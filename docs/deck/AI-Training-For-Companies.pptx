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62c008f0-410b-c639-ab08-c7005b85ee1c}">
          <p14:sldIdLst>
            <p14:sldId id="256"/>
          </p14:sldIdLst>
        </p14:section>
        <p14:section name="Problem" id="{40934998-40e8-3bd7-2dad-55854f744226}">
          <p14:sldIdLst>
            <p14:sldId id="257"/>
          </p14:sldIdLst>
        </p14:section>
        <p14:section name="The fix" id="{6245e570-3316-ddd3-94d1-c42be3b27525}">
          <p14:sldIdLst>
            <p14:sldId id="258"/>
          </p14:sldIdLst>
        </p14:section>
        <p14:section name="Who teaches" id="{7e228b61-6c08-63d8-4b72-948d8c8b1614}">
          <p14:sldIdLst>
            <p14:sldId id="259"/>
          </p14:sldIdLst>
        </p14:section>
        <p14:section name="Case 01" id="{637a7eb8-050a-b4d6-2d4b-e31acd1487a2}">
          <p14:sldIdLst>
            <p14:sldId id="260"/>
          </p14:sldIdLst>
        </p14:section>
        <p14:section name="Case 02" id="{56849993-6a29-c8fd-ae2b-132489ac587d}">
          <p14:sldIdLst>
            <p14:sldId id="261"/>
          </p14:sldIdLst>
        </p14:section>
        <p14:section name="Case 03" id="{066f8a99-dc0f-0ec0-4448-06a635864540}">
          <p14:sldIdLst>
            <p14:sldId id="262"/>
          </p14:sldIdLst>
        </p14:section>
        <p14:section name="Case 04" id="{06a3360e-3567-4230-4a89-0bcacd7fe5a7}">
          <p14:sldIdLst>
            <p14:sldId id="263"/>
          </p14:sldIdLst>
        </p14:section>
        <p14:section name="Enterprise" id="{9f5a076e-a63d-1dc1-8108-a61f8913ca4a}">
          <p14:sldIdLst>
            <p14:sldId id="264"/>
          </p14:sldIdLst>
        </p14:section>
        <p14:section name="Program" id="{35d2539b-91db-bbba-5da6-d801d587b23d}">
          <p14:sldIdLst>
            <p14:sldId id="265"/>
          </p14:sldIdLst>
        </p14:section>
        <p14:section name="Outcomes" id="{a305ae7a-6f27-9c42-2ecd-cf184ce343ff}">
          <p14:sldIdLst>
            <p14:sldId id="266"/>
          </p14:sldIdLst>
        </p14:section>
        <p14:section name="Pricing" id="{36448106-7c4a-1dab-9327-8ddc9fa4f21a}">
          <p14:sldIdLst>
            <p14:sldId id="267"/>
          </p14:sldIdLst>
        </p14:section>
        <p14:section name="Fit" id="{bbfa2d69-7786-1ac9-a27b-fba9330fe04d}">
          <p14:sldIdLst>
            <p14:sldId id="268"/>
          </p14:sldIdLst>
        </p14:section>
        <p14:section name="Next step" id="{905479d8-1d9c-3885-e9f4-22eadd45ffc2}">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Read cold, no presenter.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Wonderfly. Wonderfly runs event venues. Customers text questions at all hours and most of the bookings come in on weekends when nobody is at a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Windansea Coconuts. Windansea Coconuts is an experiential marketing company that runs branded activations for some of the largest brands in the world. Two owners, seasonal crews, and more than $1M in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WD Capital. WD Capital is a real estate brokerage and syndication company. Deal flow depends on finding distressed and off-market properties before anyone else and getting them into the CRM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Hologram Pilates (Proto). A Pilates studio pilot where a Proto hologram unit plays a recorded instructor while a certified instructor in the room corrects form. Tested inside a franchise gym before committing to a standalone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1616"/>
        </a:solidFill>
      </p:bgPr>
    </p:bg>
    <p:spTree>
      <p:nvGrpSpPr>
        <p:cNvPr id="1" name=""/>
        <p:cNvGrpSpPr/>
        <p:nvPr/>
      </p:nvGrpSpPr>
      <p:grpSpPr>
        <a:xfrm>
          <a:off x="0" y="0"/>
          <a:ext cx="0" cy="0"/>
          <a:chOff x="0" y="0"/>
          <a:chExt cx="0" cy="0"/>
        </a:xfrm>
      </p:grpSpPr>
      <p:sp>
        <p:nvSpPr>
          <p:cNvPr id="2" name="Text 0"/>
          <p:cNvSpPr/>
          <p:nvPr/>
        </p:nvSpPr>
        <p:spPr>
          <a:xfrm>
            <a:off x="457200" y="4686300"/>
            <a:ext cx="4572000" cy="228600"/>
          </a:xfrm>
          <a:prstGeom prst="rect">
            <a:avLst/>
          </a:prstGeom>
          <a:noFill/>
          <a:ln/>
        </p:spPr>
        <p:txBody>
          <a:bodyPr wrap="square" lIns="0" tIns="0" rIns="0" bIns="0" rtlCol="0" anchor="ctr"/>
          <a:lstStyle/>
          <a:p>
            <a:pPr indent="0" marL="0">
              <a:buNone/>
            </a:pPr>
            <a:r>
              <a:rPr lang="en-US" sz="900" dirty="0">
                <a:solidFill>
                  <a:srgbClr val="B5B5B5"/>
                </a:solidFill>
                <a:latin typeface="Courier New" pitchFamily="34" charset="0"/>
                <a:ea typeface="Courier New" pitchFamily="34" charset="-122"/>
                <a:cs typeface="Courier New" pitchFamily="34" charset="-120"/>
              </a:rPr>
              <a:t>AI Training For Companies</a:t>
            </a:r>
            <a:endParaRPr lang="en-US" sz="900" dirty="0"/>
          </a:p>
        </p:txBody>
      </p:sp>
      <p:sp>
        <p:nvSpPr>
          <p:cNvPr id="3" name="Text 1"/>
          <p:cNvSpPr/>
          <p:nvPr/>
        </p:nvSpPr>
        <p:spPr>
          <a:xfrm>
            <a:off x="5029200" y="4686300"/>
            <a:ext cx="3657600" cy="228600"/>
          </a:xfrm>
          <a:prstGeom prst="rect">
            <a:avLst/>
          </a:prstGeom>
          <a:noFill/>
          <a:ln/>
        </p:spPr>
        <p:txBody>
          <a:bodyPr wrap="square" lIns="0" tIns="0" rIns="0" bIns="0" rtlCol="0" anchor="ctr"/>
          <a:lstStyle/>
          <a:p>
            <a:pPr algn="r" indent="0" marL="0">
              <a:buNone/>
            </a:pPr>
            <a:r>
              <a:rPr lang="en-US" sz="900" dirty="0">
                <a:solidFill>
                  <a:srgbClr val="B5B5B5"/>
                </a:solidFill>
                <a:latin typeface="Courier New" pitchFamily="34" charset="0"/>
                <a:ea typeface="Courier New" pitchFamily="34" charset="-122"/>
                <a:cs typeface="Courier New" pitchFamily="34" charset="-120"/>
              </a:rPr>
              <a:t>aitrainingforcompanies.com</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rtlCol="0"/>
          <a:lstStyle>
            <a:lvl1pPr indent="0" marL="0">
              <a:buNone/>
              <a:defRPr lang="en-US" sz="2600" b="1" dirty="0">
                <a:solidFill>
                  <a:srgbClr val="161616"/>
                </a:solidFill>
              </a:defRPr>
            </a:lvl1pPr>
          </a:lstStyle>
          <a:p>
            <a:pPr indent="0" marL="0">
              <a:buNone/>
            </a:pPr>
            <a:endParaRPr lang="en-US" sz="2600" dirty="0"/>
          </a:p>
        </p:txBody>
      </p:sp>
      <p:sp>
        <p:nvSpPr>
          <p:cNvPr id="3" name="Text 0"/>
          <p:cNvSpPr/>
          <p:nvPr/>
        </p:nvSpPr>
        <p:spPr>
          <a:xfrm>
            <a:off x="457200" y="4686300"/>
            <a:ext cx="3657600" cy="228600"/>
          </a:xfrm>
          <a:prstGeom prst="rect">
            <a:avLst/>
          </a:prstGeom>
          <a:noFill/>
          <a:ln/>
        </p:spPr>
        <p:txBody>
          <a:bodyPr wrap="square" lIns="0" tIns="0" rIns="0" bIns="0" rtlCol="0" anchor="ctr"/>
          <a:lstStyle/>
          <a:p>
            <a:pPr indent="0" marL="0">
              <a:buNone/>
            </a:pPr>
            <a:r>
              <a:rPr lang="en-US" sz="900" dirty="0">
                <a:solidFill>
                  <a:srgbClr val="595959"/>
                </a:solidFill>
                <a:latin typeface="Courier New" pitchFamily="34" charset="0"/>
                <a:ea typeface="Courier New" pitchFamily="34" charset="-122"/>
                <a:cs typeface="Courier New" pitchFamily="34" charset="-120"/>
              </a:rPr>
              <a:t>millhausenjordan@gmail.com</a:t>
            </a:r>
            <a:endParaRPr lang="en-US" sz="900" dirty="0"/>
          </a:p>
        </p:txBody>
      </p:sp>
      <p:sp>
        <p:nvSpPr>
          <p:cNvPr id="4" name="Text 1"/>
          <p:cNvSpPr/>
          <p:nvPr/>
        </p:nvSpPr>
        <p:spPr>
          <a:xfrm>
            <a:off x="4114800" y="4686300"/>
            <a:ext cx="3108960" cy="228600"/>
          </a:xfrm>
          <a:prstGeom prst="rect">
            <a:avLst/>
          </a:prstGeom>
          <a:noFill/>
          <a:ln/>
        </p:spPr>
        <p:txBody>
          <a:bodyPr wrap="square" lIns="0" tIns="0" rIns="0" bIns="0" rtlCol="0" anchor="ctr"/>
          <a:lstStyle/>
          <a:p>
            <a:pPr algn="ctr" indent="0" marL="0">
              <a:buNone/>
            </a:pPr>
            <a:r>
              <a:rPr lang="en-US" sz="900" dirty="0">
                <a:solidFill>
                  <a:srgbClr val="595959"/>
                </a:solidFill>
                <a:latin typeface="Courier New" pitchFamily="34" charset="0"/>
                <a:ea typeface="Courier New" pitchFamily="34" charset="-122"/>
                <a:cs typeface="Courier New" pitchFamily="34" charset="-120"/>
              </a:rPr>
              <a:t>aitrainingforcompanies.com</a:t>
            </a:r>
            <a:endParaRPr lang="en-US" sz="9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rs/jordan/consulting/public/images/hero-windansea-ldx3.jpg">    </p:cNvPr>
          <p:cNvPicPr>
            <a:picLocks noChangeAspect="1"/>
          </p:cNvPicPr>
          <p:nvPr/>
        </p:nvPicPr>
        <p:blipFill>
          <a:blip r:embed="rId1"/>
          <a:srcRect l="0" r="0" t="0" b="0"/>
          <a:stretch/>
        </p:blipFill>
        <p:spPr>
          <a:xfrm>
            <a:off x="5852160" y="0"/>
            <a:ext cx="3291840" cy="4549140"/>
          </a:xfrm>
          <a:prstGeom prst="rect">
            <a:avLst/>
          </a:prstGeom>
        </p:spPr>
      </p:pic>
      <p:sp>
        <p:nvSpPr>
          <p:cNvPr id="3" name="Text 0"/>
          <p:cNvSpPr txBox="1"/>
          <p:nvPr/>
        </p:nvSpPr>
        <p:spPr>
          <a:xfrm>
            <a:off x="457200" y="1188720"/>
            <a:ext cx="5029200" cy="1645920"/>
          </a:xfrm>
          <a:prstGeom prst="rect">
            <a:avLst/>
          </a:prstGeom>
          <a:noFill/>
          <a:ln/>
        </p:spPr>
        <p:txBody>
          <a:bodyPr wrap="square" lIns="0" tIns="0" rIns="0" bIns="0" rtlCol="0" anchor="t"/>
          <a:lstStyle/>
          <a:p>
            <a:pPr indent="0" marL="0">
              <a:buNone/>
            </a:pPr>
            <a:r>
              <a:rPr lang="en-US" sz="3600" b="1" dirty="0">
                <a:solidFill>
                  <a:srgbClr val="FFFFFF"/>
                </a:solidFill>
              </a:rPr>
              <a:t>We train your team to build AI systems in-house.</a:t>
            </a:r>
            <a:endParaRPr lang="en-US" sz="3600" dirty="0"/>
          </a:p>
        </p:txBody>
      </p:sp>
      <p:sp>
        <p:nvSpPr>
          <p:cNvPr id="4" name="Text 1"/>
          <p:cNvSpPr txBox="1"/>
          <p:nvPr/>
        </p:nvSpPr>
        <p:spPr>
          <a:xfrm>
            <a:off x="457200" y="2926080"/>
            <a:ext cx="5029200" cy="1097280"/>
          </a:xfrm>
          <a:prstGeom prst="rect">
            <a:avLst/>
          </a:prstGeom>
          <a:noFill/>
          <a:ln/>
        </p:spPr>
        <p:txBody>
          <a:bodyPr wrap="square" lIns="0" tIns="0" rIns="0" bIns="0" rtlCol="0" anchor="t"/>
          <a:lstStyle/>
          <a:p>
            <a:pPr indent="0" marL="0">
              <a:buNone/>
            </a:pPr>
            <a:r>
              <a:rPr lang="en-US" sz="1300" dirty="0">
                <a:solidFill>
                  <a:srgbClr val="D9D9D9"/>
                </a:solidFill>
              </a:rPr>
              <a:t>An eight-week program that trains a small team inside your company to build, deploy, and own AI systems. Taught by consultants who have shipped these systems for clients in events, experiential marketing, real estate, and fitness.</a:t>
            </a:r>
            <a:endParaRPr lang="en-US" sz="1300" dirty="0"/>
          </a:p>
        </p:txBody>
      </p:sp>
      <p:sp>
        <p:nvSpPr>
          <p:cNvPr id="5" name="Text 2"/>
          <p:cNvSpPr txBox="1"/>
          <p:nvPr/>
        </p:nvSpPr>
        <p:spPr>
          <a:xfrm>
            <a:off x="457200" y="4069080"/>
            <a:ext cx="4572000" cy="274320"/>
          </a:xfrm>
          <a:prstGeom prst="rect">
            <a:avLst/>
          </a:prstGeom>
          <a:noFill/>
          <a:ln/>
        </p:spPr>
        <p:txBody>
          <a:bodyPr wrap="square" lIns="0" tIns="0" rIns="0" bIns="0" rtlCol="0" anchor="t"/>
          <a:lstStyle/>
          <a:p>
            <a:pPr indent="0" marL="0">
              <a:buNone/>
            </a:pPr>
            <a:r>
              <a:rPr lang="en-US" sz="900" dirty="0">
                <a:solidFill>
                  <a:srgbClr val="B5B5B5"/>
                </a:solidFill>
                <a:latin typeface="Courier New" pitchFamily="34" charset="0"/>
                <a:ea typeface="Courier New" pitchFamily="34" charset="-122"/>
                <a:cs typeface="Courier New" pitchFamily="34" charset="-120"/>
              </a:rPr>
              <a:t>Jordan Millhausen, Founder</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Why AI projects stall inside companies</a:t>
            </a:r>
            <a:endParaRPr lang="en-US" sz="2600" dirty="0"/>
          </a:p>
        </p:txBody>
      </p:sp>
      <p:sp>
        <p:nvSpPr>
          <p:cNvPr id="3" name="Shape 1"/>
          <p:cNvSpPr/>
          <p:nvPr/>
        </p:nvSpPr>
        <p:spPr>
          <a:xfrm>
            <a:off x="457200" y="1325880"/>
            <a:ext cx="2590800" cy="2651760"/>
          </a:xfrm>
          <a:prstGeom prst="rect">
            <a:avLst/>
          </a:prstGeom>
          <a:solidFill>
            <a:srgbClr val="F4F4F4"/>
          </a:solidFill>
          <a:ln w="12700">
            <a:solidFill>
              <a:srgbClr val="F4F4F4"/>
            </a:solidFill>
            <a:prstDash val="solid"/>
          </a:ln>
        </p:spPr>
      </p:sp>
      <p:sp>
        <p:nvSpPr>
          <p:cNvPr id="4" name="Text 2"/>
          <p:cNvSpPr txBox="1"/>
          <p:nvPr/>
        </p:nvSpPr>
        <p:spPr>
          <a:xfrm>
            <a:off x="7315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01</a:t>
            </a:r>
            <a:endParaRPr lang="en-US" sz="900" dirty="0"/>
          </a:p>
        </p:txBody>
      </p:sp>
      <p:sp>
        <p:nvSpPr>
          <p:cNvPr id="5" name="Text 3"/>
          <p:cNvSpPr txBox="1"/>
          <p:nvPr/>
        </p:nvSpPr>
        <p:spPr>
          <a:xfrm>
            <a:off x="7315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Tools without builders</a:t>
            </a:r>
            <a:endParaRPr lang="en-US" sz="1600" dirty="0"/>
          </a:p>
        </p:txBody>
      </p:sp>
      <p:sp>
        <p:nvSpPr>
          <p:cNvPr id="6" name="Text 4"/>
          <p:cNvSpPr txBox="1"/>
          <p:nvPr/>
        </p:nvSpPr>
        <p:spPr>
          <a:xfrm>
            <a:off x="7315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Licenses get bought. A few people use them for email. Operations do not change.</a:t>
            </a:r>
            <a:endParaRPr lang="en-US" sz="1200" dirty="0"/>
          </a:p>
        </p:txBody>
      </p:sp>
      <p:sp>
        <p:nvSpPr>
          <p:cNvPr id="7" name="Shape 5"/>
          <p:cNvSpPr/>
          <p:nvPr/>
        </p:nvSpPr>
        <p:spPr>
          <a:xfrm>
            <a:off x="3276600" y="1325880"/>
            <a:ext cx="2590800" cy="2651760"/>
          </a:xfrm>
          <a:prstGeom prst="rect">
            <a:avLst/>
          </a:prstGeom>
          <a:solidFill>
            <a:srgbClr val="F4F4F4"/>
          </a:solidFill>
          <a:ln w="12700">
            <a:solidFill>
              <a:srgbClr val="F4F4F4"/>
            </a:solidFill>
            <a:prstDash val="solid"/>
          </a:ln>
        </p:spPr>
      </p:sp>
      <p:sp>
        <p:nvSpPr>
          <p:cNvPr id="8" name="Text 6"/>
          <p:cNvSpPr txBox="1"/>
          <p:nvPr/>
        </p:nvSpPr>
        <p:spPr>
          <a:xfrm>
            <a:off x="35509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02</a:t>
            </a:r>
            <a:endParaRPr lang="en-US" sz="900" dirty="0"/>
          </a:p>
        </p:txBody>
      </p:sp>
      <p:sp>
        <p:nvSpPr>
          <p:cNvPr id="9" name="Text 7"/>
          <p:cNvSpPr txBox="1"/>
          <p:nvPr/>
        </p:nvSpPr>
        <p:spPr>
          <a:xfrm>
            <a:off x="35509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Consultants who leave</a:t>
            </a:r>
            <a:endParaRPr lang="en-US" sz="1600" dirty="0"/>
          </a:p>
        </p:txBody>
      </p:sp>
      <p:sp>
        <p:nvSpPr>
          <p:cNvPr id="10" name="Text 8"/>
          <p:cNvSpPr txBox="1"/>
          <p:nvPr/>
        </p:nvSpPr>
        <p:spPr>
          <a:xfrm>
            <a:off x="35509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A vendor builds something and leaves. Every change after that is a new invoice to someone who no longer remembers how it works.</a:t>
            </a:r>
            <a:endParaRPr lang="en-US" sz="1200" dirty="0"/>
          </a:p>
        </p:txBody>
      </p:sp>
      <p:sp>
        <p:nvSpPr>
          <p:cNvPr id="11" name="Shape 9"/>
          <p:cNvSpPr/>
          <p:nvPr/>
        </p:nvSpPr>
        <p:spPr>
          <a:xfrm>
            <a:off x="6096000" y="1325880"/>
            <a:ext cx="2590800" cy="2651760"/>
          </a:xfrm>
          <a:prstGeom prst="rect">
            <a:avLst/>
          </a:prstGeom>
          <a:solidFill>
            <a:srgbClr val="F4F4F4"/>
          </a:solidFill>
          <a:ln w="12700">
            <a:solidFill>
              <a:srgbClr val="F4F4F4"/>
            </a:solidFill>
            <a:prstDash val="solid"/>
          </a:ln>
        </p:spPr>
      </p:sp>
      <p:sp>
        <p:nvSpPr>
          <p:cNvPr id="12" name="Text 10"/>
          <p:cNvSpPr txBox="1"/>
          <p:nvPr/>
        </p:nvSpPr>
        <p:spPr>
          <a:xfrm>
            <a:off x="63703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03</a:t>
            </a:r>
            <a:endParaRPr lang="en-US" sz="900" dirty="0"/>
          </a:p>
        </p:txBody>
      </p:sp>
      <p:sp>
        <p:nvSpPr>
          <p:cNvPr id="13" name="Text 11"/>
          <p:cNvSpPr txBox="1"/>
          <p:nvPr/>
        </p:nvSpPr>
        <p:spPr>
          <a:xfrm>
            <a:off x="63703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Strategy without execution</a:t>
            </a:r>
            <a:endParaRPr lang="en-US" sz="1600" dirty="0"/>
          </a:p>
        </p:txBody>
      </p:sp>
      <p:sp>
        <p:nvSpPr>
          <p:cNvPr id="14" name="Text 12"/>
          <p:cNvSpPr txBox="1"/>
          <p:nvPr/>
        </p:nvSpPr>
        <p:spPr>
          <a:xfrm>
            <a:off x="63703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There is a roadmap. Nobody inside can build the first item on it.</a:t>
            </a:r>
            <a:endParaRPr lang="en-US" sz="12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The fix is a small team inside your company that builds and owns the systems</a:t>
            </a:r>
            <a:endParaRPr lang="en-US" sz="2600" dirty="0"/>
          </a:p>
        </p:txBody>
      </p:sp>
      <p:sp>
        <p:nvSpPr>
          <p:cNvPr id="3" name="Text 1"/>
          <p:cNvSpPr txBox="1"/>
          <p:nvPr/>
        </p:nvSpPr>
        <p:spPr>
          <a:xfrm>
            <a:off x="457200" y="1417320"/>
            <a:ext cx="3840480" cy="2011680"/>
          </a:xfrm>
          <a:prstGeom prst="rect">
            <a:avLst/>
          </a:prstGeom>
          <a:noFill/>
          <a:ln/>
        </p:spPr>
        <p:txBody>
          <a:bodyPr wrap="square" lIns="0" tIns="0" rIns="0" bIns="0" rtlCol="0" anchor="t"/>
          <a:lstStyle/>
          <a:p>
            <a:pPr indent="0" marL="0">
              <a:buNone/>
            </a:pPr>
            <a:r>
              <a:rPr lang="en-US" sz="1400" dirty="0">
                <a:solidFill>
                  <a:schemeClr val="tx2"/>
                </a:solidFill>
              </a:rPr>
              <a:t>A forward deployed engineer works inside the business, understands the actual workflow, and ships software that fixes it. Enterprise software companies place them at customer sites. We train your own people to do the job.</a:t>
            </a:r>
            <a:endParaRPr lang="en-US" sz="1400" dirty="0"/>
          </a:p>
        </p:txBody>
      </p:sp>
      <p:sp>
        <p:nvSpPr>
          <p:cNvPr id="4" name="Shape 2"/>
          <p:cNvSpPr/>
          <p:nvPr/>
        </p:nvSpPr>
        <p:spPr>
          <a:xfrm>
            <a:off x="4754880" y="1417320"/>
            <a:ext cx="3931920" cy="0"/>
          </a:xfrm>
          <a:prstGeom prst="line">
            <a:avLst/>
          </a:prstGeom>
          <a:noFill/>
          <a:ln w="9525">
            <a:solidFill>
              <a:srgbClr val="E2E2E2"/>
            </a:solidFill>
            <a:prstDash val="solid"/>
          </a:ln>
        </p:spPr>
      </p:sp>
      <p:sp>
        <p:nvSpPr>
          <p:cNvPr id="5" name="Text 3"/>
          <p:cNvSpPr txBox="1"/>
          <p:nvPr/>
        </p:nvSpPr>
        <p:spPr>
          <a:xfrm>
            <a:off x="4754880" y="149047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5120640" y="1472184"/>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know your business, so they build the right thing the first time.</a:t>
            </a:r>
            <a:endParaRPr lang="en-US" sz="1200" dirty="0"/>
          </a:p>
        </p:txBody>
      </p:sp>
      <p:sp>
        <p:nvSpPr>
          <p:cNvPr id="7" name="Shape 5"/>
          <p:cNvSpPr/>
          <p:nvPr/>
        </p:nvSpPr>
        <p:spPr>
          <a:xfrm>
            <a:off x="4754880" y="2075688"/>
            <a:ext cx="3931920" cy="0"/>
          </a:xfrm>
          <a:prstGeom prst="line">
            <a:avLst/>
          </a:prstGeom>
          <a:noFill/>
          <a:ln w="9525">
            <a:solidFill>
              <a:srgbClr val="E2E2E2"/>
            </a:solidFill>
            <a:prstDash val="solid"/>
          </a:ln>
        </p:spPr>
      </p:sp>
      <p:sp>
        <p:nvSpPr>
          <p:cNvPr id="8" name="Text 6"/>
          <p:cNvSpPr txBox="1"/>
          <p:nvPr/>
        </p:nvSpPr>
        <p:spPr>
          <a:xfrm>
            <a:off x="4754880" y="214884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5120640" y="2130552"/>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stay, so the systems get maintained and the next one gets built.</a:t>
            </a:r>
            <a:endParaRPr lang="en-US" sz="1200" dirty="0"/>
          </a:p>
        </p:txBody>
      </p:sp>
      <p:sp>
        <p:nvSpPr>
          <p:cNvPr id="10" name="Shape 8"/>
          <p:cNvSpPr/>
          <p:nvPr/>
        </p:nvSpPr>
        <p:spPr>
          <a:xfrm>
            <a:off x="4754880" y="2734056"/>
            <a:ext cx="3931920" cy="0"/>
          </a:xfrm>
          <a:prstGeom prst="line">
            <a:avLst/>
          </a:prstGeom>
          <a:noFill/>
          <a:ln w="9525">
            <a:solidFill>
              <a:srgbClr val="E2E2E2"/>
            </a:solidFill>
            <a:prstDash val="solid"/>
          </a:ln>
        </p:spPr>
      </p:sp>
      <p:sp>
        <p:nvSpPr>
          <p:cNvPr id="11" name="Text 9"/>
          <p:cNvSpPr txBox="1"/>
          <p:nvPr/>
        </p:nvSpPr>
        <p:spPr>
          <a:xfrm>
            <a:off x="4754880" y="280720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5120640" y="2788920"/>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cost what you already pay them, not a retainer.</a:t>
            </a:r>
            <a:endParaRPr lang="en-US" sz="1200" dirty="0"/>
          </a:p>
        </p:txBody>
      </p:sp>
      <p:sp>
        <p:nvSpPr>
          <p:cNvPr id="13" name="Shape 11"/>
          <p:cNvSpPr/>
          <p:nvPr/>
        </p:nvSpPr>
        <p:spPr>
          <a:xfrm>
            <a:off x="4754880" y="3392424"/>
            <a:ext cx="3931920" cy="0"/>
          </a:xfrm>
          <a:prstGeom prst="line">
            <a:avLst/>
          </a:prstGeom>
          <a:noFill/>
          <a:ln w="9525">
            <a:solidFill>
              <a:srgbClr val="E2E2E2"/>
            </a:solidFill>
            <a:prstDash val="solid"/>
          </a:ln>
        </p:spPr>
      </p:sp>
      <p:sp>
        <p:nvSpPr>
          <p:cNvPr id="14" name="Text 12"/>
          <p:cNvSpPr txBox="1"/>
          <p:nvPr/>
        </p:nvSpPr>
        <p:spPr>
          <a:xfrm>
            <a:off x="4754880" y="3465576"/>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5120640" y="3447288"/>
            <a:ext cx="3566160" cy="566928"/>
          </a:xfrm>
          <a:prstGeom prst="rect">
            <a:avLst/>
          </a:prstGeom>
          <a:noFill/>
          <a:ln/>
        </p:spPr>
        <p:txBody>
          <a:bodyPr wrap="square" lIns="0" tIns="0" rIns="0" bIns="0" rtlCol="0" anchor="t"/>
          <a:lstStyle/>
          <a:p>
            <a:pPr indent="0" marL="0">
              <a:buNone/>
            </a:pPr>
            <a:r>
              <a:rPr lang="en-US" sz="1200" dirty="0">
                <a:solidFill>
                  <a:schemeClr val="tx1"/>
                </a:solidFill>
              </a:rPr>
              <a:t>Four of them can automate more of a 200-person company than any vendor will.</a:t>
            </a:r>
            <a:endParaRPr lang="en-US" sz="1200" dirty="0"/>
          </a:p>
        </p:txBody>
      </p:sp>
      <p:sp>
        <p:nvSpPr>
          <p:cNvPr id="16" name="Shape 14"/>
          <p:cNvSpPr/>
          <p:nvPr/>
        </p:nvSpPr>
        <p:spPr>
          <a:xfrm>
            <a:off x="4754880" y="4050792"/>
            <a:ext cx="393192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Taught by consultants who have shipped this for clients</a:t>
            </a:r>
            <a:endParaRPr lang="en-US" sz="2600" dirty="0"/>
          </a:p>
        </p:txBody>
      </p:sp>
      <p:pic>
        <p:nvPicPr>
          <p:cNvPr id="3" name="Image 0" descr="/Users/jordan/consulting/public/images/jordan-millhausen.jpg">    </p:cNvPr>
          <p:cNvPicPr>
            <a:picLocks noChangeAspect="1"/>
          </p:cNvPicPr>
          <p:nvPr/>
        </p:nvPicPr>
        <p:blipFill>
          <a:blip r:embed="rId1"/>
          <a:srcRect l="0" r="0" t="0" b="0"/>
          <a:stretch/>
        </p:blipFill>
        <p:spPr>
          <a:xfrm>
            <a:off x="7680960" y="365760"/>
            <a:ext cx="1005840" cy="1234440"/>
          </a:xfrm>
          <a:prstGeom prst="rect">
            <a:avLst/>
          </a:prstGeom>
        </p:spPr>
      </p:pic>
      <p:sp>
        <p:nvSpPr>
          <p:cNvPr id="4" name="Text 1"/>
          <p:cNvSpPr txBox="1"/>
          <p:nvPr/>
        </p:nvSpPr>
        <p:spPr>
          <a:xfrm>
            <a:off x="457200" y="1371600"/>
            <a:ext cx="6949440" cy="640080"/>
          </a:xfrm>
          <a:prstGeom prst="rect">
            <a:avLst/>
          </a:prstGeom>
          <a:noFill/>
          <a:ln/>
        </p:spPr>
        <p:txBody>
          <a:bodyPr wrap="square" lIns="0" tIns="0" rIns="0" bIns="0" rtlCol="0" anchor="t"/>
          <a:lstStyle/>
          <a:p>
            <a:pPr indent="0" marL="0">
              <a:buNone/>
            </a:pPr>
            <a:r>
              <a:rPr lang="en-US" sz="1300" dirty="0">
                <a:solidFill>
                  <a:schemeClr val="tx2"/>
                </a:solidFill>
              </a:rPr>
              <a:t>Every system in this deck was built by our team for a client and is in production today. We have also trained enterprise engineering teams at SnapLogic and Snowflake.</a:t>
            </a:r>
            <a:endParaRPr lang="en-US" sz="1300" dirty="0"/>
          </a:p>
        </p:txBody>
      </p:sp>
      <p:sp>
        <p:nvSpPr>
          <p:cNvPr id="5" name="Shape 2"/>
          <p:cNvSpPr/>
          <p:nvPr/>
        </p:nvSpPr>
        <p:spPr>
          <a:xfrm>
            <a:off x="457200" y="2057400"/>
            <a:ext cx="1954530" cy="868680"/>
          </a:xfrm>
          <a:prstGeom prst="rect">
            <a:avLst/>
          </a:prstGeom>
          <a:solidFill>
            <a:srgbClr val="F4F4F4"/>
          </a:solidFill>
          <a:ln w="12700">
            <a:solidFill>
              <a:srgbClr val="F4F4F4"/>
            </a:solidFill>
            <a:prstDash val="solid"/>
          </a:ln>
        </p:spPr>
      </p:sp>
      <p:sp>
        <p:nvSpPr>
          <p:cNvPr id="6" name="Text 3"/>
          <p:cNvSpPr txBox="1"/>
          <p:nvPr/>
        </p:nvSpPr>
        <p:spPr>
          <a:xfrm>
            <a:off x="59436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$6M+</a:t>
            </a:r>
            <a:endParaRPr lang="en-US" sz="2000" dirty="0"/>
          </a:p>
        </p:txBody>
      </p:sp>
      <p:sp>
        <p:nvSpPr>
          <p:cNvPr id="7" name="Text 4"/>
          <p:cNvSpPr txBox="1"/>
          <p:nvPr/>
        </p:nvSpPr>
        <p:spPr>
          <a:xfrm>
            <a:off x="59436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Client revenue supported by systems we built</a:t>
            </a:r>
            <a:endParaRPr lang="en-US" sz="700" dirty="0"/>
          </a:p>
        </p:txBody>
      </p:sp>
      <p:sp>
        <p:nvSpPr>
          <p:cNvPr id="8" name="Shape 5"/>
          <p:cNvSpPr/>
          <p:nvPr/>
        </p:nvSpPr>
        <p:spPr>
          <a:xfrm>
            <a:off x="2548890" y="2057400"/>
            <a:ext cx="1954530" cy="868680"/>
          </a:xfrm>
          <a:prstGeom prst="rect">
            <a:avLst/>
          </a:prstGeom>
          <a:solidFill>
            <a:srgbClr val="F4F4F4"/>
          </a:solidFill>
          <a:ln w="12700">
            <a:solidFill>
              <a:srgbClr val="F4F4F4"/>
            </a:solidFill>
            <a:prstDash val="solid"/>
          </a:ln>
        </p:spPr>
      </p:sp>
      <p:sp>
        <p:nvSpPr>
          <p:cNvPr id="9" name="Text 6"/>
          <p:cNvSpPr txBox="1"/>
          <p:nvPr/>
        </p:nvSpPr>
        <p:spPr>
          <a:xfrm>
            <a:off x="268605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10</a:t>
            </a:r>
            <a:endParaRPr lang="en-US" sz="2000" dirty="0"/>
          </a:p>
        </p:txBody>
      </p:sp>
      <p:sp>
        <p:nvSpPr>
          <p:cNvPr id="10" name="Text 7"/>
          <p:cNvSpPr txBox="1"/>
          <p:nvPr/>
        </p:nvSpPr>
        <p:spPr>
          <a:xfrm>
            <a:off x="268605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Client systems in production</a:t>
            </a:r>
            <a:endParaRPr lang="en-US" sz="700" dirty="0"/>
          </a:p>
        </p:txBody>
      </p:sp>
      <p:sp>
        <p:nvSpPr>
          <p:cNvPr id="11" name="Shape 8"/>
          <p:cNvSpPr/>
          <p:nvPr/>
        </p:nvSpPr>
        <p:spPr>
          <a:xfrm>
            <a:off x="4640580" y="2057400"/>
            <a:ext cx="1954530" cy="868680"/>
          </a:xfrm>
          <a:prstGeom prst="rect">
            <a:avLst/>
          </a:prstGeom>
          <a:solidFill>
            <a:srgbClr val="F4F4F4"/>
          </a:solidFill>
          <a:ln w="12700">
            <a:solidFill>
              <a:srgbClr val="F4F4F4"/>
            </a:solidFill>
            <a:prstDash val="solid"/>
          </a:ln>
        </p:spPr>
      </p:sp>
      <p:sp>
        <p:nvSpPr>
          <p:cNvPr id="12" name="Text 9"/>
          <p:cNvSpPr txBox="1"/>
          <p:nvPr/>
        </p:nvSpPr>
        <p:spPr>
          <a:xfrm>
            <a:off x="477774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10K+</a:t>
            </a:r>
            <a:endParaRPr lang="en-US" sz="2000" dirty="0"/>
          </a:p>
        </p:txBody>
      </p:sp>
      <p:sp>
        <p:nvSpPr>
          <p:cNvPr id="13" name="Text 10"/>
          <p:cNvSpPr txBox="1"/>
          <p:nvPr/>
        </p:nvSpPr>
        <p:spPr>
          <a:xfrm>
            <a:off x="477774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Customer conversations handled by AI agents we deployed</a:t>
            </a:r>
            <a:endParaRPr lang="en-US" sz="700" dirty="0"/>
          </a:p>
        </p:txBody>
      </p:sp>
      <p:sp>
        <p:nvSpPr>
          <p:cNvPr id="14" name="Shape 11"/>
          <p:cNvSpPr/>
          <p:nvPr/>
        </p:nvSpPr>
        <p:spPr>
          <a:xfrm>
            <a:off x="6732270" y="2057400"/>
            <a:ext cx="1954530" cy="868680"/>
          </a:xfrm>
          <a:prstGeom prst="rect">
            <a:avLst/>
          </a:prstGeom>
          <a:solidFill>
            <a:srgbClr val="F4F4F4"/>
          </a:solidFill>
          <a:ln w="12700">
            <a:solidFill>
              <a:srgbClr val="F4F4F4"/>
            </a:solidFill>
            <a:prstDash val="solid"/>
          </a:ln>
        </p:spPr>
      </p:sp>
      <p:sp>
        <p:nvSpPr>
          <p:cNvPr id="15" name="Text 12"/>
          <p:cNvSpPr txBox="1"/>
          <p:nvPr/>
        </p:nvSpPr>
        <p:spPr>
          <a:xfrm>
            <a:off x="686943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200+</a:t>
            </a:r>
            <a:endParaRPr lang="en-US" sz="2000" dirty="0"/>
          </a:p>
        </p:txBody>
      </p:sp>
      <p:sp>
        <p:nvSpPr>
          <p:cNvPr id="16" name="Text 13"/>
          <p:cNvSpPr txBox="1"/>
          <p:nvPr/>
        </p:nvSpPr>
        <p:spPr>
          <a:xfrm>
            <a:off x="686943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Hours of manual work removed per month across clients</a:t>
            </a:r>
            <a:endParaRPr lang="en-US" sz="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108960"/>
          <a:ext cx="8229600" cy="914400"/>
        </p:xfrm>
        <a:graphic>
          <a:graphicData uri="http://schemas.openxmlformats.org/drawingml/2006/table">
            <a:tbl>
              <a:tblPr/>
              <a:tblGrid>
                <a:gridCol w="1645920"/>
                <a:gridCol w="2011680"/>
                <a:gridCol w="4572000"/>
              </a:tblGrid>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Snowflake</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Solutions engineering</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Data and AI architecture with enterprise engineering teams</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SnapLogic</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Enterprise sales engineering</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Led AgentCreator bootcamps, built a GTM sales agent, supported a $300K Fortune 500 deal</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Client work</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Ten systems in production</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Wonderfly, Windansea Coconuts, WD Capital, Hologram Pilates, Applegate Ventures</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01  ·  WONDERFLY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A customer service agent that answers texts on weekends</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Customers text the venue about availability, pricing, and party packages. Most of those messages arrive evenings and weekends. Staff answered them Monday, by which point the customer had booked somewhere else.</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Weekend texts get an answer in seconds instead of on Monday. Staff only touch the conversations the agent flags.</a:t>
            </a:r>
            <a:endParaRPr lang="en-US" sz="1100" dirty="0"/>
          </a:p>
        </p:txBody>
      </p:sp>
      <p:sp>
        <p:nvSpPr>
          <p:cNvPr id="8" name="Text 6"/>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9" name="Shape 7"/>
          <p:cNvSpPr/>
          <p:nvPr/>
        </p:nvSpPr>
        <p:spPr>
          <a:xfrm>
            <a:off x="4754880" y="1554480"/>
            <a:ext cx="3931920" cy="0"/>
          </a:xfrm>
          <a:prstGeom prst="line">
            <a:avLst/>
          </a:prstGeom>
          <a:noFill/>
          <a:ln w="9525">
            <a:solidFill>
              <a:srgbClr val="E2E2E2"/>
            </a:solidFill>
            <a:prstDash val="solid"/>
          </a:ln>
        </p:spPr>
      </p:sp>
      <p:sp>
        <p:nvSpPr>
          <p:cNvPr id="10" name="Text 8"/>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1" name="Text 9"/>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An SMS agent on the venue's phone lines that answers questions from a knowledge base and live booking data, written to collect leads rather than pretend to book.</a:t>
            </a:r>
            <a:endParaRPr lang="en-US" sz="1000" dirty="0"/>
          </a:p>
        </p:txBody>
      </p:sp>
      <p:sp>
        <p:nvSpPr>
          <p:cNvPr id="12" name="Shape 10"/>
          <p:cNvSpPr/>
          <p:nvPr/>
        </p:nvSpPr>
        <p:spPr>
          <a:xfrm>
            <a:off x="4754880" y="2121408"/>
            <a:ext cx="3931920" cy="0"/>
          </a:xfrm>
          <a:prstGeom prst="line">
            <a:avLst/>
          </a:prstGeom>
          <a:noFill/>
          <a:ln w="9525">
            <a:solidFill>
              <a:srgbClr val="E2E2E2"/>
            </a:solidFill>
            <a:prstDash val="solid"/>
          </a:ln>
        </p:spPr>
      </p:sp>
      <p:sp>
        <p:nvSpPr>
          <p:cNvPr id="13" name="Text 11"/>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14" name="Text 12"/>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Confidence-based handoff. When the agent is unsure, it stops, flags the conversation, and posts an alert to the team's Discord. The database flag is the source of truth, so a failed alert never blocks a reply.</a:t>
            </a:r>
            <a:endParaRPr lang="en-US" sz="1000" dirty="0"/>
          </a:p>
        </p:txBody>
      </p:sp>
      <p:sp>
        <p:nvSpPr>
          <p:cNvPr id="15" name="Shape 13"/>
          <p:cNvSpPr/>
          <p:nvPr/>
        </p:nvSpPr>
        <p:spPr>
          <a:xfrm>
            <a:off x="4754880" y="2688336"/>
            <a:ext cx="3931920" cy="0"/>
          </a:xfrm>
          <a:prstGeom prst="line">
            <a:avLst/>
          </a:prstGeom>
          <a:noFill/>
          <a:ln w="9525">
            <a:solidFill>
              <a:srgbClr val="E2E2E2"/>
            </a:solidFill>
            <a:prstDash val="solid"/>
          </a:ln>
        </p:spPr>
      </p:sp>
      <p:sp>
        <p:nvSpPr>
          <p:cNvPr id="16" name="Text 14"/>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7" name="Text 15"/>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 dashboard for staff to read conversations, take over a thread, toggle the agent per line or globally, and watch response time and token cost.</a:t>
            </a:r>
            <a:endParaRPr lang="en-US" sz="1000" dirty="0"/>
          </a:p>
        </p:txBody>
      </p:sp>
      <p:sp>
        <p:nvSpPr>
          <p:cNvPr id="18" name="Shape 16"/>
          <p:cNvSpPr/>
          <p:nvPr/>
        </p:nvSpPr>
        <p:spPr>
          <a:xfrm>
            <a:off x="4754880" y="3255264"/>
            <a:ext cx="3931920" cy="0"/>
          </a:xfrm>
          <a:prstGeom prst="line">
            <a:avLst/>
          </a:prstGeom>
          <a:noFill/>
          <a:ln w="9525">
            <a:solidFill>
              <a:srgbClr val="E2E2E2"/>
            </a:solidFill>
            <a:prstDash val="solid"/>
          </a:ln>
        </p:spPr>
      </p:sp>
      <p:sp>
        <p:nvSpPr>
          <p:cNvPr id="19" name="Text 17"/>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0" name="Text 18"/>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How to wire an LLM to a real phone line and a real database</a:t>
            </a:r>
            <a:endParaRPr lang="en-US" sz="1000" dirty="0"/>
          </a:p>
        </p:txBody>
      </p:sp>
      <p:sp>
        <p:nvSpPr>
          <p:cNvPr id="21" name="Text 19"/>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Why the agent's job is to answer and collect, not to act, until it has earned it</a:t>
            </a:r>
            <a:endParaRPr lang="en-US" sz="1000" dirty="0"/>
          </a:p>
        </p:txBody>
      </p:sp>
      <p:sp>
        <p:nvSpPr>
          <p:cNvPr id="22" name="Text 20"/>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Human in the loop as a system design, not a disclaimer</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02  ·  WINDANSEA COCONUTS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Operations that run without anyone retyping anything</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Every closed deal meant copying details from the CRM into a task tracker, emailing the client an intake form, chasing the answers, and then typing them again into a run sheet for the crew. Wholesale invoices lived in a separate system nobody checked. Mistakes showed up on event day.</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A closed deal becomes a tracked event with a completed intake form and a current run sheet without anyone retyping it. Failures email the owner with the payload, so nothing fails silently.</a:t>
            </a:r>
            <a:endParaRPr lang="en-US" sz="1100" dirty="0"/>
          </a:p>
        </p:txBody>
      </p:sp>
      <p:sp>
        <p:nvSpPr>
          <p:cNvPr id="8" name="Text 6"/>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9" name="Shape 7"/>
          <p:cNvSpPr/>
          <p:nvPr/>
        </p:nvSpPr>
        <p:spPr>
          <a:xfrm>
            <a:off x="4754880" y="1554480"/>
            <a:ext cx="3931920" cy="0"/>
          </a:xfrm>
          <a:prstGeom prst="line">
            <a:avLst/>
          </a:prstGeom>
          <a:noFill/>
          <a:ln w="9525">
            <a:solidFill>
              <a:srgbClr val="E2E2E2"/>
            </a:solidFill>
            <a:prstDash val="solid"/>
          </a:ln>
        </p:spPr>
      </p:sp>
      <p:sp>
        <p:nvSpPr>
          <p:cNvPr id="10" name="Text 8"/>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1" name="Text 9"/>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webhook that fires when a deal closes in Pipedrive. It creates the event task in ClickUp, generates a unique intake link, and emails the client from the owner's address with the event lead copied.</a:t>
            </a:r>
            <a:endParaRPr lang="en-US" sz="1000" dirty="0"/>
          </a:p>
        </p:txBody>
      </p:sp>
      <p:sp>
        <p:nvSpPr>
          <p:cNvPr id="12" name="Shape 10"/>
          <p:cNvSpPr/>
          <p:nvPr/>
        </p:nvSpPr>
        <p:spPr>
          <a:xfrm>
            <a:off x="4754880" y="2121408"/>
            <a:ext cx="3931920" cy="0"/>
          </a:xfrm>
          <a:prstGeom prst="line">
            <a:avLst/>
          </a:prstGeom>
          <a:noFill/>
          <a:ln w="9525">
            <a:solidFill>
              <a:srgbClr val="E2E2E2"/>
            </a:solidFill>
            <a:prstDash val="solid"/>
          </a:ln>
        </p:spPr>
      </p:sp>
      <p:sp>
        <p:nvSpPr>
          <p:cNvPr id="13" name="Text 11"/>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14" name="Text 12"/>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An intake form that pre-fills from the task and writes answers and file uploads straight back to it. Fields show and hide based on the package.</a:t>
            </a:r>
            <a:endParaRPr lang="en-US" sz="1000" dirty="0"/>
          </a:p>
        </p:txBody>
      </p:sp>
      <p:sp>
        <p:nvSpPr>
          <p:cNvPr id="15" name="Shape 13"/>
          <p:cNvSpPr/>
          <p:nvPr/>
        </p:nvSpPr>
        <p:spPr>
          <a:xfrm>
            <a:off x="4754880" y="2688336"/>
            <a:ext cx="3931920" cy="0"/>
          </a:xfrm>
          <a:prstGeom prst="line">
            <a:avLst/>
          </a:prstGeom>
          <a:noFill/>
          <a:ln w="9525">
            <a:solidFill>
              <a:srgbClr val="E2E2E2"/>
            </a:solidFill>
            <a:prstDash val="solid"/>
          </a:ln>
        </p:spPr>
      </p:sp>
      <p:sp>
        <p:nvSpPr>
          <p:cNvPr id="16" name="Text 14"/>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7" name="Text 15"/>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 printable Banquet Event Order rendered from the task for staff and vendors.</a:t>
            </a:r>
            <a:endParaRPr lang="en-US" sz="1000" dirty="0"/>
          </a:p>
        </p:txBody>
      </p:sp>
      <p:sp>
        <p:nvSpPr>
          <p:cNvPr id="18" name="Shape 16"/>
          <p:cNvSpPr/>
          <p:nvPr/>
        </p:nvSpPr>
        <p:spPr>
          <a:xfrm>
            <a:off x="4754880" y="3255264"/>
            <a:ext cx="3931920" cy="0"/>
          </a:xfrm>
          <a:prstGeom prst="line">
            <a:avLst/>
          </a:prstGeom>
          <a:noFill/>
          <a:ln w="9525">
            <a:solidFill>
              <a:srgbClr val="E2E2E2"/>
            </a:solidFill>
            <a:prstDash val="solid"/>
          </a:ln>
        </p:spPr>
      </p:sp>
      <p:sp>
        <p:nvSpPr>
          <p:cNvPr id="19" name="Text 17"/>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0" name="Text 18"/>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Webhooks as the backbone of business automation</a:t>
            </a:r>
            <a:endParaRPr lang="en-US" sz="1000" dirty="0"/>
          </a:p>
        </p:txBody>
      </p:sp>
      <p:sp>
        <p:nvSpPr>
          <p:cNvPr id="21" name="Text 19"/>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Idempotency, retries, and dry-run modes before you trust a bot with production data</a:t>
            </a:r>
            <a:endParaRPr lang="en-US" sz="1000" dirty="0"/>
          </a:p>
        </p:txBody>
      </p:sp>
      <p:sp>
        <p:nvSpPr>
          <p:cNvPr id="22" name="Text 20"/>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Using an LLM to write documents from messy sources, with a confirm-before-event list instead of guesses</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03  ·  WD CAPITAL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A lead pipeline that replaced Zapier and showed its work</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New property leads arrived as webhooks from a data provider. A chain of Zapier steps tried to clean and push them into HubSpot. It was slow, duplicated records when two webhooks arrived together, failed quietly, and nobody could see what had happened to a given lead.</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Zapier is gone. Leads land in HubSpot in seconds with a full audit trail, and any failure can be replayed from the dashboard. The company has serviced million-dollar transactions on top of this pipeline.</a:t>
            </a:r>
            <a:endParaRPr lang="en-US" sz="1100" dirty="0"/>
          </a:p>
        </p:txBody>
      </p:sp>
      <p:sp>
        <p:nvSpPr>
          <p:cNvPr id="8" name="Text 6"/>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9" name="Shape 7"/>
          <p:cNvSpPr/>
          <p:nvPr/>
        </p:nvSpPr>
        <p:spPr>
          <a:xfrm>
            <a:off x="4754880" y="1554480"/>
            <a:ext cx="3931920" cy="0"/>
          </a:xfrm>
          <a:prstGeom prst="line">
            <a:avLst/>
          </a:prstGeom>
          <a:noFill/>
          <a:ln w="9525">
            <a:solidFill>
              <a:srgbClr val="E2E2E2"/>
            </a:solidFill>
            <a:prstDash val="solid"/>
          </a:ln>
        </p:spPr>
      </p:sp>
      <p:sp>
        <p:nvSpPr>
          <p:cNvPr id="10" name="Text 8"/>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1" name="Text 9"/>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single pipeline: normalize, filter, score, store, upsert to HubSpot, notify. Every inbound payload is stored raw and parsed with its status and the HubSpot IDs it produced.</a:t>
            </a:r>
            <a:endParaRPr lang="en-US" sz="1000" dirty="0"/>
          </a:p>
        </p:txBody>
      </p:sp>
      <p:sp>
        <p:nvSpPr>
          <p:cNvPr id="12" name="Shape 10"/>
          <p:cNvSpPr/>
          <p:nvPr/>
        </p:nvSpPr>
        <p:spPr>
          <a:xfrm>
            <a:off x="4754880" y="2121408"/>
            <a:ext cx="3931920" cy="0"/>
          </a:xfrm>
          <a:prstGeom prst="line">
            <a:avLst/>
          </a:prstGeom>
          <a:noFill/>
          <a:ln w="9525">
            <a:solidFill>
              <a:srgbClr val="E2E2E2"/>
            </a:solidFill>
            <a:prstDash val="solid"/>
          </a:ln>
        </p:spPr>
      </p:sp>
      <p:sp>
        <p:nvSpPr>
          <p:cNvPr id="13" name="Text 11"/>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14" name="Text 12"/>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Per-lead processing locks so concurrent webhooks cannot create duplicate leads.</a:t>
            </a:r>
            <a:endParaRPr lang="en-US" sz="1000" dirty="0"/>
          </a:p>
        </p:txBody>
      </p:sp>
      <p:sp>
        <p:nvSpPr>
          <p:cNvPr id="15" name="Shape 13"/>
          <p:cNvSpPr/>
          <p:nvPr/>
        </p:nvSpPr>
        <p:spPr>
          <a:xfrm>
            <a:off x="4754880" y="2688336"/>
            <a:ext cx="3931920" cy="0"/>
          </a:xfrm>
          <a:prstGeom prst="line">
            <a:avLst/>
          </a:prstGeom>
          <a:noFill/>
          <a:ln w="9525">
            <a:solidFill>
              <a:srgbClr val="E2E2E2"/>
            </a:solidFill>
            <a:prstDash val="solid"/>
          </a:ln>
        </p:spPr>
      </p:sp>
      <p:sp>
        <p:nvSpPr>
          <p:cNvPr id="16" name="Text 14"/>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7" name="Text 15"/>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An admin dashboard listing every delivery with a detail view and a replay button that re-runs a stored payload through the pipeline.</a:t>
            </a:r>
            <a:endParaRPr lang="en-US" sz="1000" dirty="0"/>
          </a:p>
        </p:txBody>
      </p:sp>
      <p:sp>
        <p:nvSpPr>
          <p:cNvPr id="18" name="Shape 16"/>
          <p:cNvSpPr/>
          <p:nvPr/>
        </p:nvSpPr>
        <p:spPr>
          <a:xfrm>
            <a:off x="4754880" y="3255264"/>
            <a:ext cx="3931920" cy="0"/>
          </a:xfrm>
          <a:prstGeom prst="line">
            <a:avLst/>
          </a:prstGeom>
          <a:noFill/>
          <a:ln w="9525">
            <a:solidFill>
              <a:srgbClr val="E2E2E2"/>
            </a:solidFill>
            <a:prstDash val="solid"/>
          </a:ln>
        </p:spPr>
      </p:sp>
      <p:sp>
        <p:nvSpPr>
          <p:cNvPr id="19" name="Text 17"/>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0" name="Text 18"/>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When to replace no-code glue with code you own</a:t>
            </a:r>
            <a:endParaRPr lang="en-US" sz="1000" dirty="0"/>
          </a:p>
        </p:txBody>
      </p:sp>
      <p:sp>
        <p:nvSpPr>
          <p:cNvPr id="21" name="Text 19"/>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Locks, dedupe, and replay as the difference between a demo and an operation</a:t>
            </a:r>
            <a:endParaRPr lang="en-US" sz="1000" dirty="0"/>
          </a:p>
        </p:txBody>
      </p:sp>
      <p:sp>
        <p:nvSpPr>
          <p:cNvPr id="22" name="Text 20"/>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Building the monitoring dashboard before you need it</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04  ·  HOLOGRAM PILATES (PROTO)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Controlling a hologram, the lights, and the sound from one app</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A class needs the hologram video, the room lights, and the sound to move together on the instructor's cue. The vendor's web console was a browser round trip to the cloud with no control over lights or room audio, and a frozen hologram reads as broken to a room full of people.</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The instructor runs the room from one app instead of juggling a vendor console, a music app, and the light switches. The pilot has a measurement plan, so the decision to open a studio is made on data, not on how cool the hologram looks.</a:t>
            </a:r>
            <a:endParaRPr lang="en-US" sz="1100" dirty="0"/>
          </a:p>
        </p:txBody>
      </p:sp>
      <p:sp>
        <p:nvSpPr>
          <p:cNvPr id="8" name="Text 6"/>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9" name="Shape 7"/>
          <p:cNvSpPr/>
          <p:nvPr/>
        </p:nvSpPr>
        <p:spPr>
          <a:xfrm>
            <a:off x="4754880" y="1554480"/>
            <a:ext cx="3931920" cy="0"/>
          </a:xfrm>
          <a:prstGeom prst="line">
            <a:avLst/>
          </a:prstGeom>
          <a:noFill/>
          <a:ln w="9525">
            <a:solidFill>
              <a:srgbClr val="E2E2E2"/>
            </a:solidFill>
            <a:prstDash val="solid"/>
          </a:ln>
        </p:spPr>
      </p:sp>
      <p:sp>
        <p:nvSpPr>
          <p:cNvPr id="10" name="Text 8"/>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1" name="Text 9"/>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custom control app that drives video playback on the Proto unit, the room lighting, and the sound from one surface the live instructor operates mid-class.</a:t>
            </a:r>
            <a:endParaRPr lang="en-US" sz="1000" dirty="0"/>
          </a:p>
        </p:txBody>
      </p:sp>
      <p:sp>
        <p:nvSpPr>
          <p:cNvPr id="12" name="Shape 10"/>
          <p:cNvSpPr/>
          <p:nvPr/>
        </p:nvSpPr>
        <p:spPr>
          <a:xfrm>
            <a:off x="4754880" y="2121408"/>
            <a:ext cx="3931920" cy="0"/>
          </a:xfrm>
          <a:prstGeom prst="line">
            <a:avLst/>
          </a:prstGeom>
          <a:noFill/>
          <a:ln w="9525">
            <a:solidFill>
              <a:srgbClr val="E2E2E2"/>
            </a:solidFill>
            <a:prstDash val="solid"/>
          </a:ln>
        </p:spPr>
      </p:sp>
      <p:sp>
        <p:nvSpPr>
          <p:cNvPr id="13" name="Text 11"/>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14" name="Text 12"/>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Block-based class structure with hold loops that repeat without a visible cut, so the instructor can pause on a cue without the figure freezing.</a:t>
            </a:r>
            <a:endParaRPr lang="en-US" sz="1000" dirty="0"/>
          </a:p>
        </p:txBody>
      </p:sp>
      <p:sp>
        <p:nvSpPr>
          <p:cNvPr id="15" name="Shape 13"/>
          <p:cNvSpPr/>
          <p:nvPr/>
        </p:nvSpPr>
        <p:spPr>
          <a:xfrm>
            <a:off x="4754880" y="2688336"/>
            <a:ext cx="3931920" cy="0"/>
          </a:xfrm>
          <a:prstGeom prst="line">
            <a:avLst/>
          </a:prstGeom>
          <a:noFill/>
          <a:ln w="9525">
            <a:solidFill>
              <a:srgbClr val="E2E2E2"/>
            </a:solidFill>
            <a:prstDash val="solid"/>
          </a:ln>
        </p:spPr>
      </p:sp>
      <p:sp>
        <p:nvSpPr>
          <p:cNvPr id="16" name="Text 14"/>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7" name="Text 15"/>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An operating plan for the pilot: three test rounds, KPIs that decide the business (rebooking within 14 days above 40 percent, zero-glitch class rate above 95 percent), and a list of every unconfirmed assumption marked as unconfirmed.</a:t>
            </a:r>
            <a:endParaRPr lang="en-US" sz="1000" dirty="0"/>
          </a:p>
        </p:txBody>
      </p:sp>
      <p:sp>
        <p:nvSpPr>
          <p:cNvPr id="18" name="Shape 16"/>
          <p:cNvSpPr/>
          <p:nvPr/>
        </p:nvSpPr>
        <p:spPr>
          <a:xfrm>
            <a:off x="4754880" y="3255264"/>
            <a:ext cx="3931920" cy="0"/>
          </a:xfrm>
          <a:prstGeom prst="line">
            <a:avLst/>
          </a:prstGeom>
          <a:noFill/>
          <a:ln w="9525">
            <a:solidFill>
              <a:srgbClr val="E2E2E2"/>
            </a:solidFill>
            <a:prstDash val="solid"/>
          </a:ln>
        </p:spPr>
      </p:sp>
      <p:sp>
        <p:nvSpPr>
          <p:cNvPr id="19" name="Text 17"/>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0" name="Text 18"/>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Reading vendor docs and APIs to find what the product can actually do</a:t>
            </a:r>
            <a:endParaRPr lang="en-US" sz="1000" dirty="0"/>
          </a:p>
        </p:txBody>
      </p:sp>
      <p:sp>
        <p:nvSpPr>
          <p:cNvPr id="21" name="Text 19"/>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Designing for failure in front of a live audience</a:t>
            </a:r>
            <a:endParaRPr lang="en-US" sz="1000" dirty="0"/>
          </a:p>
        </p:txBody>
      </p:sp>
      <p:sp>
        <p:nvSpPr>
          <p:cNvPr id="22" name="Text 20"/>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Picking the one number that decides whether the thing works</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Enterprise training experience</a:t>
            </a:r>
            <a:endParaRPr lang="en-US" sz="2600" dirty="0"/>
          </a:p>
        </p:txBody>
      </p:sp>
      <p:sp>
        <p:nvSpPr>
          <p:cNvPr id="3" name="Shape 1"/>
          <p:cNvSpPr/>
          <p:nvPr/>
        </p:nvSpPr>
        <p:spPr>
          <a:xfrm>
            <a:off x="457200" y="1325880"/>
            <a:ext cx="3977640" cy="2743200"/>
          </a:xfrm>
          <a:prstGeom prst="rect">
            <a:avLst/>
          </a:prstGeom>
          <a:solidFill>
            <a:srgbClr val="F4F4F4"/>
          </a:solidFill>
          <a:ln w="12700">
            <a:solidFill>
              <a:srgbClr val="F4F4F4"/>
            </a:solidFill>
            <a:prstDash val="solid"/>
          </a:ln>
        </p:spPr>
      </p:sp>
      <p:sp>
        <p:nvSpPr>
          <p:cNvPr id="4" name="Text 2"/>
          <p:cNvSpPr txBox="1"/>
          <p:nvPr/>
        </p:nvSpPr>
        <p:spPr>
          <a:xfrm>
            <a:off x="731520" y="1600200"/>
            <a:ext cx="3429000" cy="365760"/>
          </a:xfrm>
          <a:prstGeom prst="rect">
            <a:avLst/>
          </a:prstGeom>
          <a:noFill/>
          <a:ln/>
        </p:spPr>
        <p:txBody>
          <a:bodyPr wrap="square" lIns="0" tIns="0" rIns="0" bIns="0" rtlCol="0" anchor="t"/>
          <a:lstStyle/>
          <a:p>
            <a:pPr indent="0" marL="0">
              <a:buNone/>
            </a:pPr>
            <a:r>
              <a:rPr lang="en-US" sz="1800" b="1" dirty="0">
                <a:solidFill>
                  <a:schemeClr val="tx1"/>
                </a:solidFill>
              </a:rPr>
              <a:t>SnapLogic</a:t>
            </a:r>
            <a:endParaRPr lang="en-US" sz="1800" dirty="0"/>
          </a:p>
        </p:txBody>
      </p:sp>
      <p:sp>
        <p:nvSpPr>
          <p:cNvPr id="5" name="Text 3"/>
          <p:cNvSpPr txBox="1"/>
          <p:nvPr/>
        </p:nvSpPr>
        <p:spPr>
          <a:xfrm>
            <a:off x="731520" y="1984248"/>
            <a:ext cx="3429000" cy="228600"/>
          </a:xfrm>
          <a:prstGeom prst="rect">
            <a:avLst/>
          </a:prstGeom>
          <a:noFill/>
          <a:ln/>
        </p:spPr>
        <p:txBody>
          <a:bodyPr wrap="square" lIns="0" tIns="0" rIns="0" bIns="0" rtlCol="0" anchor="t"/>
          <a:lstStyle/>
          <a:p>
            <a:pPr indent="0" marL="0">
              <a:buNone/>
            </a:pPr>
            <a:r>
              <a:rPr lang="en-US" sz="800" spc="100" kern="0" dirty="0">
                <a:solidFill>
                  <a:schemeClr val="tx2"/>
                </a:solidFill>
                <a:latin typeface="Courier New" pitchFamily="34" charset="0"/>
                <a:ea typeface="Courier New" pitchFamily="34" charset="-122"/>
                <a:cs typeface="Courier New" pitchFamily="34" charset="-120"/>
              </a:rPr>
              <a:t>ENTERPRISE SALES ENGINEERING, 2024 TO 2026</a:t>
            </a:r>
            <a:endParaRPr lang="en-US" sz="800" dirty="0"/>
          </a:p>
        </p:txBody>
      </p:sp>
      <p:sp>
        <p:nvSpPr>
          <p:cNvPr id="6" name="Text 4"/>
          <p:cNvSpPr txBox="1"/>
          <p:nvPr/>
        </p:nvSpPr>
        <p:spPr>
          <a:xfrm>
            <a:off x="731520" y="2377440"/>
            <a:ext cx="342900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Led AgentCreator bootcamps teaching customer teams to build AI agents on their own data</a:t>
            </a:r>
            <a:endParaRPr lang="en-US" sz="1200" dirty="0"/>
          </a:p>
          <a:p>
            <a:pPr marL="342900" indent="-342900">
              <a:spcAft>
                <a:spcPts val="600"/>
              </a:spcAft>
              <a:buSzPct val="100000"/>
              <a:buChar char="▪"/>
            </a:pPr>
            <a:r>
              <a:rPr lang="en-US" sz="1200" dirty="0">
                <a:solidFill>
                  <a:schemeClr val="tx1"/>
                </a:solidFill>
              </a:rPr>
              <a:t>Built the company's first GTM sales AI agent</a:t>
            </a:r>
            <a:endParaRPr lang="en-US" sz="1200" dirty="0"/>
          </a:p>
          <a:p>
            <a:pPr marL="342900" indent="-342900">
              <a:spcAft>
                <a:spcPts val="600"/>
              </a:spcAft>
              <a:buSzPct val="100000"/>
              <a:buChar char="▪"/>
            </a:pPr>
            <a:r>
              <a:rPr lang="en-US" sz="1200" dirty="0">
                <a:solidFill>
                  <a:schemeClr val="tx1"/>
                </a:solidFill>
              </a:rPr>
              <a:t>Supported a $300K Fortune 500 deal</a:t>
            </a:r>
            <a:endParaRPr lang="en-US" sz="1200" dirty="0"/>
          </a:p>
        </p:txBody>
      </p:sp>
      <p:sp>
        <p:nvSpPr>
          <p:cNvPr id="7" name="Shape 5"/>
          <p:cNvSpPr/>
          <p:nvPr/>
        </p:nvSpPr>
        <p:spPr>
          <a:xfrm>
            <a:off x="4709160" y="1325880"/>
            <a:ext cx="3977640" cy="2743200"/>
          </a:xfrm>
          <a:prstGeom prst="rect">
            <a:avLst/>
          </a:prstGeom>
          <a:solidFill>
            <a:srgbClr val="F4F4F4"/>
          </a:solidFill>
          <a:ln w="12700">
            <a:solidFill>
              <a:srgbClr val="F4F4F4"/>
            </a:solidFill>
            <a:prstDash val="solid"/>
          </a:ln>
        </p:spPr>
      </p:sp>
      <p:sp>
        <p:nvSpPr>
          <p:cNvPr id="8" name="Text 6"/>
          <p:cNvSpPr txBox="1"/>
          <p:nvPr/>
        </p:nvSpPr>
        <p:spPr>
          <a:xfrm>
            <a:off x="4983480" y="1600200"/>
            <a:ext cx="3429000" cy="365760"/>
          </a:xfrm>
          <a:prstGeom prst="rect">
            <a:avLst/>
          </a:prstGeom>
          <a:noFill/>
          <a:ln/>
        </p:spPr>
        <p:txBody>
          <a:bodyPr wrap="square" lIns="0" tIns="0" rIns="0" bIns="0" rtlCol="0" anchor="t"/>
          <a:lstStyle/>
          <a:p>
            <a:pPr indent="0" marL="0">
              <a:buNone/>
            </a:pPr>
            <a:r>
              <a:rPr lang="en-US" sz="1800" b="1" dirty="0">
                <a:solidFill>
                  <a:schemeClr val="tx1"/>
                </a:solidFill>
              </a:rPr>
              <a:t>Snowflake</a:t>
            </a:r>
            <a:endParaRPr lang="en-US" sz="1800" dirty="0"/>
          </a:p>
        </p:txBody>
      </p:sp>
      <p:sp>
        <p:nvSpPr>
          <p:cNvPr id="9" name="Text 7"/>
          <p:cNvSpPr txBox="1"/>
          <p:nvPr/>
        </p:nvSpPr>
        <p:spPr>
          <a:xfrm>
            <a:off x="4983480" y="1984248"/>
            <a:ext cx="3429000" cy="228600"/>
          </a:xfrm>
          <a:prstGeom prst="rect">
            <a:avLst/>
          </a:prstGeom>
          <a:noFill/>
          <a:ln/>
        </p:spPr>
        <p:txBody>
          <a:bodyPr wrap="square" lIns="0" tIns="0" rIns="0" bIns="0" rtlCol="0" anchor="t"/>
          <a:lstStyle/>
          <a:p>
            <a:pPr indent="0" marL="0">
              <a:buNone/>
            </a:pPr>
            <a:r>
              <a:rPr lang="en-US" sz="800" spc="100" kern="0" dirty="0">
                <a:solidFill>
                  <a:schemeClr val="tx2"/>
                </a:solidFill>
                <a:latin typeface="Courier New" pitchFamily="34" charset="0"/>
                <a:ea typeface="Courier New" pitchFamily="34" charset="-122"/>
                <a:cs typeface="Courier New" pitchFamily="34" charset="-120"/>
              </a:rPr>
              <a:t>SOLUTIONS ENGINEERING, 2026 TO PRESENT</a:t>
            </a:r>
            <a:endParaRPr lang="en-US" sz="800" dirty="0"/>
          </a:p>
        </p:txBody>
      </p:sp>
      <p:sp>
        <p:nvSpPr>
          <p:cNvPr id="10" name="Text 8"/>
          <p:cNvSpPr txBox="1"/>
          <p:nvPr/>
        </p:nvSpPr>
        <p:spPr>
          <a:xfrm>
            <a:off x="4983480" y="2377440"/>
            <a:ext cx="342900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Data and AI architecture with enterprise engineering teams</a:t>
            </a:r>
            <a:endParaRPr lang="en-US" sz="1200" dirty="0"/>
          </a:p>
          <a:p>
            <a:pPr marL="342900" indent="-342900">
              <a:spcAft>
                <a:spcPts val="600"/>
              </a:spcAft>
              <a:buSzPct val="100000"/>
              <a:buChar char="▪"/>
            </a:pPr>
            <a:r>
              <a:rPr lang="en-US" sz="1200" dirty="0">
                <a:solidFill>
                  <a:schemeClr val="tx1"/>
                </a:solidFill>
              </a:rPr>
              <a:t>Sees what works and what stalls across dozens of companies</a:t>
            </a:r>
            <a:endParaRPr lang="en-US" sz="12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Eight weeks, one shipped system</a:t>
            </a:r>
            <a:endParaRPr lang="en-US" sz="2600" dirty="0"/>
          </a:p>
        </p:txBody>
      </p:sp>
      <p:sp>
        <p:nvSpPr>
          <p:cNvPr id="3" name="Text 1"/>
          <p:cNvSpPr txBox="1"/>
          <p:nvPr/>
        </p:nvSpPr>
        <p:spPr>
          <a:xfrm>
            <a:off x="457200" y="1143000"/>
            <a:ext cx="8229600" cy="457200"/>
          </a:xfrm>
          <a:prstGeom prst="rect">
            <a:avLst/>
          </a:prstGeom>
          <a:noFill/>
          <a:ln/>
        </p:spPr>
        <p:txBody>
          <a:bodyPr wrap="square" lIns="0" tIns="0" rIns="0" bIns="0" rtlCol="0" anchor="t"/>
          <a:lstStyle/>
          <a:p>
            <a:pPr indent="0" marL="0">
              <a:buNone/>
            </a:pPr>
            <a:r>
              <a:rPr lang="en-US" sz="1100" dirty="0">
                <a:solidFill>
                  <a:schemeClr val="tx2"/>
                </a:solidFill>
              </a:rPr>
              <a:t>Four to eight people from your company, one real system picked from your own operations, shipped to production by week eight. Your team builds it. We teach, review, and keep it on the rails.</a:t>
            </a:r>
            <a:endParaRPr lang="en-US" sz="1100" dirty="0"/>
          </a:p>
        </p:txBody>
      </p:sp>
      <p:sp>
        <p:nvSpPr>
          <p:cNvPr id="4" name="Shape 2"/>
          <p:cNvSpPr/>
          <p:nvPr/>
        </p:nvSpPr>
        <p:spPr>
          <a:xfrm>
            <a:off x="457200" y="1691640"/>
            <a:ext cx="1954530" cy="1371600"/>
          </a:xfrm>
          <a:prstGeom prst="rect">
            <a:avLst/>
          </a:prstGeom>
          <a:solidFill>
            <a:srgbClr val="F4F4F4"/>
          </a:solidFill>
          <a:ln w="12700">
            <a:solidFill>
              <a:srgbClr val="F4F4F4"/>
            </a:solidFill>
            <a:prstDash val="solid"/>
          </a:ln>
        </p:spPr>
      </p:sp>
      <p:sp>
        <p:nvSpPr>
          <p:cNvPr id="5" name="Text 3"/>
          <p:cNvSpPr txBox="1"/>
          <p:nvPr/>
        </p:nvSpPr>
        <p:spPr>
          <a:xfrm>
            <a:off x="59436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01</a:t>
            </a:r>
            <a:endParaRPr lang="en-US" sz="800" dirty="0"/>
          </a:p>
        </p:txBody>
      </p:sp>
      <p:sp>
        <p:nvSpPr>
          <p:cNvPr id="6" name="Text 4"/>
          <p:cNvSpPr txBox="1"/>
          <p:nvPr/>
        </p:nvSpPr>
        <p:spPr>
          <a:xfrm>
            <a:off x="59436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Foundations</a:t>
            </a:r>
            <a:endParaRPr lang="en-US" sz="1200" dirty="0"/>
          </a:p>
        </p:txBody>
      </p:sp>
      <p:sp>
        <p:nvSpPr>
          <p:cNvPr id="7" name="Text 5"/>
          <p:cNvSpPr txBox="1"/>
          <p:nvPr/>
        </p:nvSpPr>
        <p:spPr>
          <a:xfrm>
            <a:off x="59436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How LLM APIs actually work. Prompts as code, structured outputs, tool calls, context limits, cost and latency. Everyone ships a small working script by Friday.</a:t>
            </a:r>
            <a:endParaRPr lang="en-US" sz="900" dirty="0"/>
          </a:p>
        </p:txBody>
      </p:sp>
      <p:sp>
        <p:nvSpPr>
          <p:cNvPr id="8" name="Shape 6"/>
          <p:cNvSpPr/>
          <p:nvPr/>
        </p:nvSpPr>
        <p:spPr>
          <a:xfrm>
            <a:off x="2548890" y="1691640"/>
            <a:ext cx="1954530" cy="1371600"/>
          </a:xfrm>
          <a:prstGeom prst="rect">
            <a:avLst/>
          </a:prstGeom>
          <a:solidFill>
            <a:srgbClr val="F4F4F4"/>
          </a:solidFill>
          <a:ln w="12700">
            <a:solidFill>
              <a:srgbClr val="F4F4F4"/>
            </a:solidFill>
            <a:prstDash val="solid"/>
          </a:ln>
        </p:spPr>
      </p:sp>
      <p:sp>
        <p:nvSpPr>
          <p:cNvPr id="9" name="Text 7"/>
          <p:cNvSpPr txBox="1"/>
          <p:nvPr/>
        </p:nvSpPr>
        <p:spPr>
          <a:xfrm>
            <a:off x="268605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02</a:t>
            </a:r>
            <a:endParaRPr lang="en-US" sz="800" dirty="0"/>
          </a:p>
        </p:txBody>
      </p:sp>
      <p:sp>
        <p:nvSpPr>
          <p:cNvPr id="10" name="Text 8"/>
          <p:cNvSpPr txBox="1"/>
          <p:nvPr/>
        </p:nvSpPr>
        <p:spPr>
          <a:xfrm>
            <a:off x="268605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Pick the system</a:t>
            </a:r>
            <a:endParaRPr lang="en-US" sz="1200" dirty="0"/>
          </a:p>
        </p:txBody>
      </p:sp>
      <p:sp>
        <p:nvSpPr>
          <p:cNvPr id="11" name="Text 9"/>
          <p:cNvSpPr txBox="1"/>
          <p:nvPr/>
        </p:nvSpPr>
        <p:spPr>
          <a:xfrm>
            <a:off x="268605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Map your operations. Find the workflow where people retype, wait, or guess. Choose one that is worth automating and small enough to ship. Write the spec together.</a:t>
            </a:r>
            <a:endParaRPr lang="en-US" sz="900" dirty="0"/>
          </a:p>
        </p:txBody>
      </p:sp>
      <p:sp>
        <p:nvSpPr>
          <p:cNvPr id="12" name="Shape 10"/>
          <p:cNvSpPr/>
          <p:nvPr/>
        </p:nvSpPr>
        <p:spPr>
          <a:xfrm>
            <a:off x="4640580" y="1691640"/>
            <a:ext cx="1954530" cy="1371600"/>
          </a:xfrm>
          <a:prstGeom prst="rect">
            <a:avLst/>
          </a:prstGeom>
          <a:solidFill>
            <a:srgbClr val="F4F4F4"/>
          </a:solidFill>
          <a:ln w="12700">
            <a:solidFill>
              <a:srgbClr val="F4F4F4"/>
            </a:solidFill>
            <a:prstDash val="solid"/>
          </a:ln>
        </p:spPr>
      </p:sp>
      <p:sp>
        <p:nvSpPr>
          <p:cNvPr id="13" name="Text 11"/>
          <p:cNvSpPr txBox="1"/>
          <p:nvPr/>
        </p:nvSpPr>
        <p:spPr>
          <a:xfrm>
            <a:off x="477774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03</a:t>
            </a:r>
            <a:endParaRPr lang="en-US" sz="800" dirty="0"/>
          </a:p>
        </p:txBody>
      </p:sp>
      <p:sp>
        <p:nvSpPr>
          <p:cNvPr id="14" name="Text 12"/>
          <p:cNvSpPr txBox="1"/>
          <p:nvPr/>
        </p:nvSpPr>
        <p:spPr>
          <a:xfrm>
            <a:off x="477774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Integrations</a:t>
            </a:r>
            <a:endParaRPr lang="en-US" sz="1200" dirty="0"/>
          </a:p>
        </p:txBody>
      </p:sp>
      <p:sp>
        <p:nvSpPr>
          <p:cNvPr id="15" name="Text 13"/>
          <p:cNvSpPr txBox="1"/>
          <p:nvPr/>
        </p:nvSpPr>
        <p:spPr>
          <a:xfrm>
            <a:off x="477774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Webhooks, CRMs, email, payments, task trackers. The glue that makes AI useful in a business. Connect the systems the project needs and store every payload.</a:t>
            </a:r>
            <a:endParaRPr lang="en-US" sz="900" dirty="0"/>
          </a:p>
        </p:txBody>
      </p:sp>
      <p:sp>
        <p:nvSpPr>
          <p:cNvPr id="16" name="Shape 14"/>
          <p:cNvSpPr/>
          <p:nvPr/>
        </p:nvSpPr>
        <p:spPr>
          <a:xfrm>
            <a:off x="6732270" y="1691640"/>
            <a:ext cx="1954530" cy="1371600"/>
          </a:xfrm>
          <a:prstGeom prst="rect">
            <a:avLst/>
          </a:prstGeom>
          <a:solidFill>
            <a:srgbClr val="F4F4F4"/>
          </a:solidFill>
          <a:ln w="12700">
            <a:solidFill>
              <a:srgbClr val="F4F4F4"/>
            </a:solidFill>
            <a:prstDash val="solid"/>
          </a:ln>
        </p:spPr>
      </p:sp>
      <p:sp>
        <p:nvSpPr>
          <p:cNvPr id="17" name="Text 15"/>
          <p:cNvSpPr txBox="1"/>
          <p:nvPr/>
        </p:nvSpPr>
        <p:spPr>
          <a:xfrm>
            <a:off x="686943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04</a:t>
            </a:r>
            <a:endParaRPr lang="en-US" sz="800" dirty="0"/>
          </a:p>
        </p:txBody>
      </p:sp>
      <p:sp>
        <p:nvSpPr>
          <p:cNvPr id="18" name="Text 16"/>
          <p:cNvSpPr txBox="1"/>
          <p:nvPr/>
        </p:nvSpPr>
        <p:spPr>
          <a:xfrm>
            <a:off x="686943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Agents and tools</a:t>
            </a:r>
            <a:endParaRPr lang="en-US" sz="1200" dirty="0"/>
          </a:p>
        </p:txBody>
      </p:sp>
      <p:sp>
        <p:nvSpPr>
          <p:cNvPr id="19" name="Text 17"/>
          <p:cNvSpPr txBox="1"/>
          <p:nvPr/>
        </p:nvSpPr>
        <p:spPr>
          <a:xfrm>
            <a:off x="686943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Tool use, retrieval, and when an agent is the wrong answer and a cron job is enough. Build the core of the system.</a:t>
            </a:r>
            <a:endParaRPr lang="en-US" sz="900" dirty="0"/>
          </a:p>
        </p:txBody>
      </p:sp>
      <p:sp>
        <p:nvSpPr>
          <p:cNvPr id="20" name="Shape 18"/>
          <p:cNvSpPr/>
          <p:nvPr/>
        </p:nvSpPr>
        <p:spPr>
          <a:xfrm>
            <a:off x="457200" y="3200400"/>
            <a:ext cx="1954530" cy="1371600"/>
          </a:xfrm>
          <a:prstGeom prst="rect">
            <a:avLst/>
          </a:prstGeom>
          <a:solidFill>
            <a:srgbClr val="F4F4F4"/>
          </a:solidFill>
          <a:ln w="12700">
            <a:solidFill>
              <a:srgbClr val="F4F4F4"/>
            </a:solidFill>
            <a:prstDash val="solid"/>
          </a:ln>
        </p:spPr>
      </p:sp>
      <p:sp>
        <p:nvSpPr>
          <p:cNvPr id="21" name="Text 19"/>
          <p:cNvSpPr txBox="1"/>
          <p:nvPr/>
        </p:nvSpPr>
        <p:spPr>
          <a:xfrm>
            <a:off x="59436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05</a:t>
            </a:r>
            <a:endParaRPr lang="en-US" sz="800" dirty="0"/>
          </a:p>
        </p:txBody>
      </p:sp>
      <p:sp>
        <p:nvSpPr>
          <p:cNvPr id="22" name="Text 20"/>
          <p:cNvSpPr txBox="1"/>
          <p:nvPr/>
        </p:nvSpPr>
        <p:spPr>
          <a:xfrm>
            <a:off x="59436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Human in the loop</a:t>
            </a:r>
            <a:endParaRPr lang="en-US" sz="1200" dirty="0"/>
          </a:p>
        </p:txBody>
      </p:sp>
      <p:sp>
        <p:nvSpPr>
          <p:cNvPr id="23" name="Text 21"/>
          <p:cNvSpPr txBox="1"/>
          <p:nvPr/>
        </p:nvSpPr>
        <p:spPr>
          <a:xfrm>
            <a:off x="59436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Confidence thresholds, handoff, alerts, audit trails, dry-run modes. Decide what the system is allowed to do alone and what it must ask about.</a:t>
            </a:r>
            <a:endParaRPr lang="en-US" sz="900" dirty="0"/>
          </a:p>
        </p:txBody>
      </p:sp>
      <p:sp>
        <p:nvSpPr>
          <p:cNvPr id="24" name="Shape 22"/>
          <p:cNvSpPr/>
          <p:nvPr/>
        </p:nvSpPr>
        <p:spPr>
          <a:xfrm>
            <a:off x="2548890" y="3200400"/>
            <a:ext cx="1954530" cy="1371600"/>
          </a:xfrm>
          <a:prstGeom prst="rect">
            <a:avLst/>
          </a:prstGeom>
          <a:solidFill>
            <a:srgbClr val="F4F4F4"/>
          </a:solidFill>
          <a:ln w="12700">
            <a:solidFill>
              <a:srgbClr val="F4F4F4"/>
            </a:solidFill>
            <a:prstDash val="solid"/>
          </a:ln>
        </p:spPr>
      </p:sp>
      <p:sp>
        <p:nvSpPr>
          <p:cNvPr id="25" name="Text 23"/>
          <p:cNvSpPr txBox="1"/>
          <p:nvPr/>
        </p:nvSpPr>
        <p:spPr>
          <a:xfrm>
            <a:off x="268605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06</a:t>
            </a:r>
            <a:endParaRPr lang="en-US" sz="800" dirty="0"/>
          </a:p>
        </p:txBody>
      </p:sp>
      <p:sp>
        <p:nvSpPr>
          <p:cNvPr id="26" name="Text 24"/>
          <p:cNvSpPr txBox="1"/>
          <p:nvPr/>
        </p:nvSpPr>
        <p:spPr>
          <a:xfrm>
            <a:off x="268605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Build week</a:t>
            </a:r>
            <a:endParaRPr lang="en-US" sz="1200" dirty="0"/>
          </a:p>
        </p:txBody>
      </p:sp>
      <p:sp>
        <p:nvSpPr>
          <p:cNvPr id="27" name="Text 25"/>
          <p:cNvSpPr txBox="1"/>
          <p:nvPr/>
        </p:nvSpPr>
        <p:spPr>
          <a:xfrm>
            <a:off x="268605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Heads down. Ship the first working version end to end against real data, behind a flag.</a:t>
            </a:r>
            <a:endParaRPr lang="en-US" sz="900" dirty="0"/>
          </a:p>
        </p:txBody>
      </p:sp>
      <p:sp>
        <p:nvSpPr>
          <p:cNvPr id="28" name="Shape 26"/>
          <p:cNvSpPr/>
          <p:nvPr/>
        </p:nvSpPr>
        <p:spPr>
          <a:xfrm>
            <a:off x="4640580" y="3200400"/>
            <a:ext cx="1954530" cy="1371600"/>
          </a:xfrm>
          <a:prstGeom prst="rect">
            <a:avLst/>
          </a:prstGeom>
          <a:solidFill>
            <a:srgbClr val="F4F4F4"/>
          </a:solidFill>
          <a:ln w="12700">
            <a:solidFill>
              <a:srgbClr val="F4F4F4"/>
            </a:solidFill>
            <a:prstDash val="solid"/>
          </a:ln>
        </p:spPr>
      </p:sp>
      <p:sp>
        <p:nvSpPr>
          <p:cNvPr id="29" name="Text 27"/>
          <p:cNvSpPr txBox="1"/>
          <p:nvPr/>
        </p:nvSpPr>
        <p:spPr>
          <a:xfrm>
            <a:off x="477774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07</a:t>
            </a:r>
            <a:endParaRPr lang="en-US" sz="800" dirty="0"/>
          </a:p>
        </p:txBody>
      </p:sp>
      <p:sp>
        <p:nvSpPr>
          <p:cNvPr id="30" name="Text 28"/>
          <p:cNvSpPr txBox="1"/>
          <p:nvPr/>
        </p:nvSpPr>
        <p:spPr>
          <a:xfrm>
            <a:off x="477774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Evaluate and harden</a:t>
            </a:r>
            <a:endParaRPr lang="en-US" sz="1200" dirty="0"/>
          </a:p>
        </p:txBody>
      </p:sp>
      <p:sp>
        <p:nvSpPr>
          <p:cNvPr id="31" name="Text 29"/>
          <p:cNvSpPr txBox="1"/>
          <p:nvPr/>
        </p:nvSpPr>
        <p:spPr>
          <a:xfrm>
            <a:off x="477774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Test sets, failure modes, retries, idempotency, monitoring, and cost tracking. Break it on purpose and fix what breaks.</a:t>
            </a:r>
            <a:endParaRPr lang="en-US" sz="900" dirty="0"/>
          </a:p>
        </p:txBody>
      </p:sp>
      <p:sp>
        <p:nvSpPr>
          <p:cNvPr id="32" name="Shape 30"/>
          <p:cNvSpPr/>
          <p:nvPr/>
        </p:nvSpPr>
        <p:spPr>
          <a:xfrm>
            <a:off x="6732270" y="3200400"/>
            <a:ext cx="1954530" cy="1371600"/>
          </a:xfrm>
          <a:prstGeom prst="rect">
            <a:avLst/>
          </a:prstGeom>
          <a:solidFill>
            <a:srgbClr val="F4F4F4"/>
          </a:solidFill>
          <a:ln w="12700">
            <a:solidFill>
              <a:srgbClr val="F4F4F4"/>
            </a:solidFill>
            <a:prstDash val="solid"/>
          </a:ln>
        </p:spPr>
      </p:sp>
      <p:sp>
        <p:nvSpPr>
          <p:cNvPr id="33" name="Text 31"/>
          <p:cNvSpPr txBox="1"/>
          <p:nvPr/>
        </p:nvSpPr>
        <p:spPr>
          <a:xfrm>
            <a:off x="686943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08</a:t>
            </a:r>
            <a:endParaRPr lang="en-US" sz="800" dirty="0"/>
          </a:p>
        </p:txBody>
      </p:sp>
      <p:sp>
        <p:nvSpPr>
          <p:cNvPr id="34" name="Text 32"/>
          <p:cNvSpPr txBox="1"/>
          <p:nvPr/>
        </p:nvSpPr>
        <p:spPr>
          <a:xfrm>
            <a:off x="686943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Deploy and own</a:t>
            </a:r>
            <a:endParaRPr lang="en-US" sz="1200" dirty="0"/>
          </a:p>
        </p:txBody>
      </p:sp>
      <p:sp>
        <p:nvSpPr>
          <p:cNvPr id="35" name="Text 33"/>
          <p:cNvSpPr txBox="1"/>
          <p:nvPr/>
        </p:nvSpPr>
        <p:spPr>
          <a:xfrm>
            <a:off x="686943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Production deploy, runbook, handoff to the wider team, and a ranked list of the next three systems to build. The cohort presents what they shipped to leadership.</a:t>
            </a:r>
            <a:endParaRPr lang="en-US" sz="9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What your team can do when it ends</a:t>
            </a:r>
            <a:endParaRPr lang="en-US" sz="2600" dirty="0"/>
          </a:p>
        </p:txBody>
      </p:sp>
      <p:sp>
        <p:nvSpPr>
          <p:cNvPr id="3" name="Text 1"/>
          <p:cNvSpPr txBox="1"/>
          <p:nvPr/>
        </p:nvSpPr>
        <p:spPr>
          <a:xfrm>
            <a:off x="457200" y="1325880"/>
            <a:ext cx="3108960" cy="1097280"/>
          </a:xfrm>
          <a:prstGeom prst="rect">
            <a:avLst/>
          </a:prstGeom>
          <a:noFill/>
          <a:ln/>
        </p:spPr>
        <p:txBody>
          <a:bodyPr wrap="square" lIns="0" tIns="0" rIns="0" bIns="0" rtlCol="0" anchor="t"/>
          <a:lstStyle/>
          <a:p>
            <a:pPr indent="0" marL="0">
              <a:buNone/>
            </a:pPr>
            <a:r>
              <a:rPr lang="en-US" sz="1300" dirty="0">
                <a:solidFill>
                  <a:schemeClr val="tx2"/>
                </a:solidFill>
              </a:rPr>
              <a:t>Things they could not do in week one and can do unsupervised in week nine.</a:t>
            </a:r>
            <a:endParaRPr lang="en-US" sz="1300" dirty="0"/>
          </a:p>
        </p:txBody>
      </p:sp>
      <p:sp>
        <p:nvSpPr>
          <p:cNvPr id="4" name="Shape 2"/>
          <p:cNvSpPr/>
          <p:nvPr/>
        </p:nvSpPr>
        <p:spPr>
          <a:xfrm>
            <a:off x="3931920" y="1325880"/>
            <a:ext cx="4754880" cy="0"/>
          </a:xfrm>
          <a:prstGeom prst="line">
            <a:avLst/>
          </a:prstGeom>
          <a:noFill/>
          <a:ln w="9525">
            <a:solidFill>
              <a:srgbClr val="E2E2E2"/>
            </a:solidFill>
            <a:prstDash val="solid"/>
          </a:ln>
        </p:spPr>
      </p:sp>
      <p:sp>
        <p:nvSpPr>
          <p:cNvPr id="5" name="Text 3"/>
          <p:cNvSpPr txBox="1"/>
          <p:nvPr/>
        </p:nvSpPr>
        <p:spPr>
          <a:xfrm>
            <a:off x="3931920" y="1399032"/>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4297680" y="1380744"/>
            <a:ext cx="4389120" cy="347472"/>
          </a:xfrm>
          <a:prstGeom prst="rect">
            <a:avLst/>
          </a:prstGeom>
          <a:noFill/>
          <a:ln/>
        </p:spPr>
        <p:txBody>
          <a:bodyPr wrap="square" lIns="0" tIns="0" rIns="0" bIns="0" rtlCol="0" anchor="t"/>
          <a:lstStyle/>
          <a:p>
            <a:pPr indent="0" marL="0">
              <a:buNone/>
            </a:pPr>
            <a:r>
              <a:rPr lang="en-US" sz="1100" dirty="0">
                <a:solidFill>
                  <a:schemeClr val="tx1"/>
                </a:solidFill>
              </a:rPr>
              <a:t>Call an LLM API from your own code with structured outputs and tool use</a:t>
            </a:r>
            <a:endParaRPr lang="en-US" sz="1100" dirty="0"/>
          </a:p>
        </p:txBody>
      </p:sp>
      <p:sp>
        <p:nvSpPr>
          <p:cNvPr id="7" name="Shape 5"/>
          <p:cNvSpPr/>
          <p:nvPr/>
        </p:nvSpPr>
        <p:spPr>
          <a:xfrm>
            <a:off x="3931920" y="1764792"/>
            <a:ext cx="4754880" cy="0"/>
          </a:xfrm>
          <a:prstGeom prst="line">
            <a:avLst/>
          </a:prstGeom>
          <a:noFill/>
          <a:ln w="9525">
            <a:solidFill>
              <a:srgbClr val="E2E2E2"/>
            </a:solidFill>
            <a:prstDash val="solid"/>
          </a:ln>
        </p:spPr>
      </p:sp>
      <p:sp>
        <p:nvSpPr>
          <p:cNvPr id="8" name="Text 6"/>
          <p:cNvSpPr txBox="1"/>
          <p:nvPr/>
        </p:nvSpPr>
        <p:spPr>
          <a:xfrm>
            <a:off x="3931920" y="1837944"/>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4297680" y="1819656"/>
            <a:ext cx="4389120" cy="347472"/>
          </a:xfrm>
          <a:prstGeom prst="rect">
            <a:avLst/>
          </a:prstGeom>
          <a:noFill/>
          <a:ln/>
        </p:spPr>
        <p:txBody>
          <a:bodyPr wrap="square" lIns="0" tIns="0" rIns="0" bIns="0" rtlCol="0" anchor="t"/>
          <a:lstStyle/>
          <a:p>
            <a:pPr indent="0" marL="0">
              <a:buNone/>
            </a:pPr>
            <a:r>
              <a:rPr lang="en-US" sz="1100" dirty="0">
                <a:solidFill>
                  <a:schemeClr val="tx1"/>
                </a:solidFill>
              </a:rPr>
              <a:t>Connect AI to the systems your business already runs on through webhooks and APIs</a:t>
            </a:r>
            <a:endParaRPr lang="en-US" sz="1100" dirty="0"/>
          </a:p>
        </p:txBody>
      </p:sp>
      <p:sp>
        <p:nvSpPr>
          <p:cNvPr id="10" name="Shape 8"/>
          <p:cNvSpPr/>
          <p:nvPr/>
        </p:nvSpPr>
        <p:spPr>
          <a:xfrm>
            <a:off x="3931920" y="2203704"/>
            <a:ext cx="4754880" cy="0"/>
          </a:xfrm>
          <a:prstGeom prst="line">
            <a:avLst/>
          </a:prstGeom>
          <a:noFill/>
          <a:ln w="9525">
            <a:solidFill>
              <a:srgbClr val="E2E2E2"/>
            </a:solidFill>
            <a:prstDash val="solid"/>
          </a:ln>
        </p:spPr>
      </p:sp>
      <p:sp>
        <p:nvSpPr>
          <p:cNvPr id="11" name="Text 9"/>
          <p:cNvSpPr txBox="1"/>
          <p:nvPr/>
        </p:nvSpPr>
        <p:spPr>
          <a:xfrm>
            <a:off x="3931920" y="2276856"/>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4297680" y="2258568"/>
            <a:ext cx="4389120" cy="347472"/>
          </a:xfrm>
          <a:prstGeom prst="rect">
            <a:avLst/>
          </a:prstGeom>
          <a:noFill/>
          <a:ln/>
        </p:spPr>
        <p:txBody>
          <a:bodyPr wrap="square" lIns="0" tIns="0" rIns="0" bIns="0" rtlCol="0" anchor="t"/>
          <a:lstStyle/>
          <a:p>
            <a:pPr indent="0" marL="0">
              <a:buNone/>
            </a:pPr>
            <a:r>
              <a:rPr lang="en-US" sz="1100" dirty="0">
                <a:solidFill>
                  <a:schemeClr val="tx1"/>
                </a:solidFill>
              </a:rPr>
              <a:t>Decide when to use an agent, a scheduled job, or a plain form</a:t>
            </a:r>
            <a:endParaRPr lang="en-US" sz="1100" dirty="0"/>
          </a:p>
        </p:txBody>
      </p:sp>
      <p:sp>
        <p:nvSpPr>
          <p:cNvPr id="13" name="Shape 11"/>
          <p:cNvSpPr/>
          <p:nvPr/>
        </p:nvSpPr>
        <p:spPr>
          <a:xfrm>
            <a:off x="3931920" y="2642616"/>
            <a:ext cx="4754880" cy="0"/>
          </a:xfrm>
          <a:prstGeom prst="line">
            <a:avLst/>
          </a:prstGeom>
          <a:noFill/>
          <a:ln w="9525">
            <a:solidFill>
              <a:srgbClr val="E2E2E2"/>
            </a:solidFill>
            <a:prstDash val="solid"/>
          </a:ln>
        </p:spPr>
      </p:sp>
      <p:sp>
        <p:nvSpPr>
          <p:cNvPr id="14" name="Text 12"/>
          <p:cNvSpPr txBox="1"/>
          <p:nvPr/>
        </p:nvSpPr>
        <p:spPr>
          <a:xfrm>
            <a:off x="3931920" y="2715768"/>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4297680" y="2697480"/>
            <a:ext cx="4389120" cy="347472"/>
          </a:xfrm>
          <a:prstGeom prst="rect">
            <a:avLst/>
          </a:prstGeom>
          <a:noFill/>
          <a:ln/>
        </p:spPr>
        <p:txBody>
          <a:bodyPr wrap="square" lIns="0" tIns="0" rIns="0" bIns="0" rtlCol="0" anchor="t"/>
          <a:lstStyle/>
          <a:p>
            <a:pPr indent="0" marL="0">
              <a:buNone/>
            </a:pPr>
            <a:r>
              <a:rPr lang="en-US" sz="1100" dirty="0">
                <a:solidFill>
                  <a:schemeClr val="tx1"/>
                </a:solidFill>
              </a:rPr>
              <a:t>Design human handoff, alerts, and audit trails so the system is safe to leave running</a:t>
            </a:r>
            <a:endParaRPr lang="en-US" sz="1100" dirty="0"/>
          </a:p>
        </p:txBody>
      </p:sp>
      <p:sp>
        <p:nvSpPr>
          <p:cNvPr id="16" name="Shape 14"/>
          <p:cNvSpPr/>
          <p:nvPr/>
        </p:nvSpPr>
        <p:spPr>
          <a:xfrm>
            <a:off x="3931920" y="3081528"/>
            <a:ext cx="4754880" cy="0"/>
          </a:xfrm>
          <a:prstGeom prst="line">
            <a:avLst/>
          </a:prstGeom>
          <a:noFill/>
          <a:ln w="9525">
            <a:solidFill>
              <a:srgbClr val="E2E2E2"/>
            </a:solidFill>
            <a:prstDash val="solid"/>
          </a:ln>
        </p:spPr>
      </p:sp>
      <p:sp>
        <p:nvSpPr>
          <p:cNvPr id="17" name="Text 15"/>
          <p:cNvSpPr txBox="1"/>
          <p:nvPr/>
        </p:nvSpPr>
        <p:spPr>
          <a:xfrm>
            <a:off x="3931920" y="3154680"/>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05</a:t>
            </a:r>
            <a:endParaRPr lang="en-US" sz="800" dirty="0"/>
          </a:p>
        </p:txBody>
      </p:sp>
      <p:sp>
        <p:nvSpPr>
          <p:cNvPr id="18" name="Text 16"/>
          <p:cNvSpPr txBox="1"/>
          <p:nvPr/>
        </p:nvSpPr>
        <p:spPr>
          <a:xfrm>
            <a:off x="4297680" y="3136392"/>
            <a:ext cx="4389120" cy="347472"/>
          </a:xfrm>
          <a:prstGeom prst="rect">
            <a:avLst/>
          </a:prstGeom>
          <a:noFill/>
          <a:ln/>
        </p:spPr>
        <p:txBody>
          <a:bodyPr wrap="square" lIns="0" tIns="0" rIns="0" bIns="0" rtlCol="0" anchor="t"/>
          <a:lstStyle/>
          <a:p>
            <a:pPr indent="0" marL="0">
              <a:buNone/>
            </a:pPr>
            <a:r>
              <a:rPr lang="en-US" sz="1100" dirty="0">
                <a:solidFill>
                  <a:schemeClr val="tx1"/>
                </a:solidFill>
              </a:rPr>
              <a:t>Test, monitor, and track the cost of an AI system in production</a:t>
            </a:r>
            <a:endParaRPr lang="en-US" sz="1100" dirty="0"/>
          </a:p>
        </p:txBody>
      </p:sp>
      <p:sp>
        <p:nvSpPr>
          <p:cNvPr id="19" name="Shape 17"/>
          <p:cNvSpPr/>
          <p:nvPr/>
        </p:nvSpPr>
        <p:spPr>
          <a:xfrm>
            <a:off x="3931920" y="3520440"/>
            <a:ext cx="4754880" cy="0"/>
          </a:xfrm>
          <a:prstGeom prst="line">
            <a:avLst/>
          </a:prstGeom>
          <a:noFill/>
          <a:ln w="9525">
            <a:solidFill>
              <a:srgbClr val="E2E2E2"/>
            </a:solidFill>
            <a:prstDash val="solid"/>
          </a:ln>
        </p:spPr>
      </p:sp>
      <p:sp>
        <p:nvSpPr>
          <p:cNvPr id="20" name="Text 18"/>
          <p:cNvSpPr txBox="1"/>
          <p:nvPr/>
        </p:nvSpPr>
        <p:spPr>
          <a:xfrm>
            <a:off x="3931920" y="3593592"/>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06</a:t>
            </a:r>
            <a:endParaRPr lang="en-US" sz="800" dirty="0"/>
          </a:p>
        </p:txBody>
      </p:sp>
      <p:sp>
        <p:nvSpPr>
          <p:cNvPr id="21" name="Text 19"/>
          <p:cNvSpPr txBox="1"/>
          <p:nvPr/>
        </p:nvSpPr>
        <p:spPr>
          <a:xfrm>
            <a:off x="4297680" y="3575304"/>
            <a:ext cx="4389120" cy="347472"/>
          </a:xfrm>
          <a:prstGeom prst="rect">
            <a:avLst/>
          </a:prstGeom>
          <a:noFill/>
          <a:ln/>
        </p:spPr>
        <p:txBody>
          <a:bodyPr wrap="square" lIns="0" tIns="0" rIns="0" bIns="0" rtlCol="0" anchor="t"/>
          <a:lstStyle/>
          <a:p>
            <a:pPr indent="0" marL="0">
              <a:buNone/>
            </a:pPr>
            <a:r>
              <a:rPr lang="en-US" sz="1100" dirty="0">
                <a:solidFill>
                  <a:schemeClr val="tx1"/>
                </a:solidFill>
              </a:rPr>
              <a:t>Read vendor documentation and evaluate a tool or model without a sales call</a:t>
            </a:r>
            <a:endParaRPr lang="en-US" sz="1100" dirty="0"/>
          </a:p>
        </p:txBody>
      </p:sp>
      <p:sp>
        <p:nvSpPr>
          <p:cNvPr id="22" name="Shape 20"/>
          <p:cNvSpPr/>
          <p:nvPr/>
        </p:nvSpPr>
        <p:spPr>
          <a:xfrm>
            <a:off x="3931920" y="3959352"/>
            <a:ext cx="4754880" cy="0"/>
          </a:xfrm>
          <a:prstGeom prst="line">
            <a:avLst/>
          </a:prstGeom>
          <a:noFill/>
          <a:ln w="9525">
            <a:solidFill>
              <a:srgbClr val="E2E2E2"/>
            </a:solidFill>
            <a:prstDash val="solid"/>
          </a:ln>
        </p:spPr>
      </p:sp>
      <p:sp>
        <p:nvSpPr>
          <p:cNvPr id="23" name="Text 21"/>
          <p:cNvSpPr txBox="1"/>
          <p:nvPr/>
        </p:nvSpPr>
        <p:spPr>
          <a:xfrm>
            <a:off x="3931920" y="4032504"/>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07</a:t>
            </a:r>
            <a:endParaRPr lang="en-US" sz="800" dirty="0"/>
          </a:p>
        </p:txBody>
      </p:sp>
      <p:sp>
        <p:nvSpPr>
          <p:cNvPr id="24" name="Text 22"/>
          <p:cNvSpPr txBox="1"/>
          <p:nvPr/>
        </p:nvSpPr>
        <p:spPr>
          <a:xfrm>
            <a:off x="4297680" y="4014216"/>
            <a:ext cx="4389120" cy="347472"/>
          </a:xfrm>
          <a:prstGeom prst="rect">
            <a:avLst/>
          </a:prstGeom>
          <a:noFill/>
          <a:ln/>
        </p:spPr>
        <p:txBody>
          <a:bodyPr wrap="square" lIns="0" tIns="0" rIns="0" bIns="0" rtlCol="0" anchor="t"/>
          <a:lstStyle/>
          <a:p>
            <a:pPr indent="0" marL="0">
              <a:buNone/>
            </a:pPr>
            <a:r>
              <a:rPr lang="en-US" sz="1100" dirty="0">
                <a:solidFill>
                  <a:schemeClr val="tx1"/>
                </a:solidFill>
              </a:rPr>
              <a:t>Scope the next project and ship it without outside help</a:t>
            </a:r>
            <a:endParaRPr lang="en-US" sz="1100" dirty="0"/>
          </a:p>
        </p:txBody>
      </p:sp>
      <p:sp>
        <p:nvSpPr>
          <p:cNvPr id="25" name="Shape 23"/>
          <p:cNvSpPr/>
          <p:nvPr/>
        </p:nvSpPr>
        <p:spPr>
          <a:xfrm>
            <a:off x="3931920" y="4398264"/>
            <a:ext cx="475488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One fee, one cohort, one system in production</a:t>
            </a:r>
            <a:endParaRPr lang="en-US" sz="2600" dirty="0"/>
          </a:p>
        </p:txBody>
      </p:sp>
      <p:sp>
        <p:nvSpPr>
          <p:cNvPr id="3" name="Shape 1"/>
          <p:cNvSpPr/>
          <p:nvPr/>
        </p:nvSpPr>
        <p:spPr>
          <a:xfrm>
            <a:off x="457200" y="1325880"/>
            <a:ext cx="3291840" cy="2834640"/>
          </a:xfrm>
          <a:prstGeom prst="rect">
            <a:avLst/>
          </a:prstGeom>
          <a:solidFill>
            <a:srgbClr val="F4F4F4"/>
          </a:solidFill>
          <a:ln w="12700">
            <a:solidFill>
              <a:srgbClr val="F4F4F4"/>
            </a:solidFill>
            <a:prstDash val="solid"/>
          </a:ln>
        </p:spPr>
      </p:sp>
      <p:sp>
        <p:nvSpPr>
          <p:cNvPr id="4" name="Text 2"/>
          <p:cNvSpPr txBox="1"/>
          <p:nvPr/>
        </p:nvSpPr>
        <p:spPr>
          <a:xfrm>
            <a:off x="731520" y="1600200"/>
            <a:ext cx="27432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ONE COHORT</a:t>
            </a:r>
            <a:endParaRPr lang="en-US" sz="800" dirty="0"/>
          </a:p>
        </p:txBody>
      </p:sp>
      <p:sp>
        <p:nvSpPr>
          <p:cNvPr id="5" name="Text 3"/>
          <p:cNvSpPr txBox="1"/>
          <p:nvPr/>
        </p:nvSpPr>
        <p:spPr>
          <a:xfrm>
            <a:off x="731520" y="1874520"/>
            <a:ext cx="2743200" cy="640080"/>
          </a:xfrm>
          <a:prstGeom prst="rect">
            <a:avLst/>
          </a:prstGeom>
          <a:noFill/>
          <a:ln/>
        </p:spPr>
        <p:txBody>
          <a:bodyPr wrap="square" lIns="0" tIns="0" rIns="0" bIns="0" rtlCol="0" anchor="t"/>
          <a:lstStyle/>
          <a:p>
            <a:pPr indent="0" marL="0">
              <a:buNone/>
            </a:pPr>
            <a:r>
              <a:rPr lang="en-US" sz="3400" dirty="0">
                <a:solidFill>
                  <a:schemeClr val="tx1"/>
                </a:solidFill>
                <a:latin typeface="Courier New" pitchFamily="34" charset="0"/>
                <a:ea typeface="Courier New" pitchFamily="34" charset="-122"/>
                <a:cs typeface="Courier New" pitchFamily="34" charset="-120"/>
              </a:rPr>
              <a:t>$40,000</a:t>
            </a:r>
            <a:endParaRPr lang="en-US" sz="3400" dirty="0"/>
          </a:p>
        </p:txBody>
      </p:sp>
      <p:sp>
        <p:nvSpPr>
          <p:cNvPr id="6" name="Text 4"/>
          <p:cNvSpPr txBox="1"/>
          <p:nvPr/>
        </p:nvSpPr>
        <p:spPr>
          <a:xfrm>
            <a:off x="731520" y="2560320"/>
            <a:ext cx="2743200" cy="27432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8 weeks · 4 to 8 people · one system shipped</a:t>
            </a:r>
            <a:endParaRPr lang="en-US" sz="800" dirty="0"/>
          </a:p>
        </p:txBody>
      </p:sp>
      <p:sp>
        <p:nvSpPr>
          <p:cNvPr id="7" name="Text 5"/>
          <p:cNvSpPr txBox="1"/>
          <p:nvPr/>
        </p:nvSpPr>
        <p:spPr>
          <a:xfrm>
            <a:off x="731520" y="2971800"/>
            <a:ext cx="2743200" cy="1005840"/>
          </a:xfrm>
          <a:prstGeom prst="rect">
            <a:avLst/>
          </a:prstGeom>
          <a:noFill/>
          <a:ln/>
        </p:spPr>
        <p:txBody>
          <a:bodyPr wrap="square" lIns="0" tIns="0" rIns="0" bIns="0" rtlCol="0" anchor="t"/>
          <a:lstStyle/>
          <a:p>
            <a:pPr indent="0" marL="0">
              <a:buNone/>
            </a:pPr>
            <a:r>
              <a:rPr lang="en-US" sz="1000" dirty="0">
                <a:solidFill>
                  <a:schemeClr val="tx2"/>
                </a:solidFill>
              </a:rPr>
              <a:t>Follow-on advisory after the cohort is quoted per engagement. No per-seat charges, no software to license.</a:t>
            </a:r>
            <a:endParaRPr lang="en-US" sz="1000" dirty="0"/>
          </a:p>
        </p:txBody>
      </p:sp>
      <p:sp>
        <p:nvSpPr>
          <p:cNvPr id="8" name="Text 6"/>
          <p:cNvSpPr txBox="1"/>
          <p:nvPr/>
        </p:nvSpPr>
        <p:spPr>
          <a:xfrm>
            <a:off x="4206240" y="1371600"/>
            <a:ext cx="448056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INCLUDED</a:t>
            </a:r>
            <a:endParaRPr lang="en-US" sz="800" dirty="0"/>
          </a:p>
        </p:txBody>
      </p:sp>
      <p:sp>
        <p:nvSpPr>
          <p:cNvPr id="9" name="Shape 7"/>
          <p:cNvSpPr/>
          <p:nvPr/>
        </p:nvSpPr>
        <p:spPr>
          <a:xfrm>
            <a:off x="4206240" y="1645920"/>
            <a:ext cx="4480560" cy="0"/>
          </a:xfrm>
          <a:prstGeom prst="line">
            <a:avLst/>
          </a:prstGeom>
          <a:noFill/>
          <a:ln w="9525">
            <a:solidFill>
              <a:srgbClr val="E2E2E2"/>
            </a:solidFill>
            <a:prstDash val="solid"/>
          </a:ln>
        </p:spPr>
      </p:sp>
      <p:sp>
        <p:nvSpPr>
          <p:cNvPr id="10" name="Text 8"/>
          <p:cNvSpPr txBox="1"/>
          <p:nvPr/>
        </p:nvSpPr>
        <p:spPr>
          <a:xfrm>
            <a:off x="4206240" y="1737360"/>
            <a:ext cx="4480560" cy="365760"/>
          </a:xfrm>
          <a:prstGeom prst="rect">
            <a:avLst/>
          </a:prstGeom>
          <a:noFill/>
          <a:ln/>
        </p:spPr>
        <p:txBody>
          <a:bodyPr wrap="square" lIns="0" tIns="0" rIns="0" bIns="0" rtlCol="0" anchor="t"/>
          <a:lstStyle/>
          <a:p>
            <a:pPr indent="0" marL="0">
              <a:buNone/>
            </a:pPr>
            <a:r>
              <a:rPr lang="en-US" sz="1200" dirty="0">
                <a:solidFill>
                  <a:schemeClr val="tx1"/>
                </a:solidFill>
              </a:rPr>
              <a:t>Eight weeks of instruction and working sessions, on site or remote</a:t>
            </a:r>
            <a:endParaRPr lang="en-US" sz="1200" dirty="0"/>
          </a:p>
        </p:txBody>
      </p:sp>
      <p:sp>
        <p:nvSpPr>
          <p:cNvPr id="11" name="Shape 9"/>
          <p:cNvSpPr/>
          <p:nvPr/>
        </p:nvSpPr>
        <p:spPr>
          <a:xfrm>
            <a:off x="4206240" y="2121408"/>
            <a:ext cx="4480560" cy="0"/>
          </a:xfrm>
          <a:prstGeom prst="line">
            <a:avLst/>
          </a:prstGeom>
          <a:noFill/>
          <a:ln w="9525">
            <a:solidFill>
              <a:srgbClr val="E2E2E2"/>
            </a:solidFill>
            <a:prstDash val="solid"/>
          </a:ln>
        </p:spPr>
      </p:sp>
      <p:sp>
        <p:nvSpPr>
          <p:cNvPr id="12" name="Text 10"/>
          <p:cNvSpPr txBox="1"/>
          <p:nvPr/>
        </p:nvSpPr>
        <p:spPr>
          <a:xfrm>
            <a:off x="4206240" y="2212848"/>
            <a:ext cx="4480560" cy="365760"/>
          </a:xfrm>
          <a:prstGeom prst="rect">
            <a:avLst/>
          </a:prstGeom>
          <a:noFill/>
          <a:ln/>
        </p:spPr>
        <p:txBody>
          <a:bodyPr wrap="square" lIns="0" tIns="0" rIns="0" bIns="0" rtlCol="0" anchor="t"/>
          <a:lstStyle/>
          <a:p>
            <a:pPr indent="0" marL="0">
              <a:buNone/>
            </a:pPr>
            <a:r>
              <a:rPr lang="en-US" sz="1200" dirty="0">
                <a:solidFill>
                  <a:schemeClr val="tx1"/>
                </a:solidFill>
              </a:rPr>
              <a:t>Code review and architecture guidance on your real project</a:t>
            </a:r>
            <a:endParaRPr lang="en-US" sz="1200" dirty="0"/>
          </a:p>
        </p:txBody>
      </p:sp>
      <p:sp>
        <p:nvSpPr>
          <p:cNvPr id="13" name="Shape 11"/>
          <p:cNvSpPr/>
          <p:nvPr/>
        </p:nvSpPr>
        <p:spPr>
          <a:xfrm>
            <a:off x="4206240" y="2596896"/>
            <a:ext cx="4480560" cy="0"/>
          </a:xfrm>
          <a:prstGeom prst="line">
            <a:avLst/>
          </a:prstGeom>
          <a:noFill/>
          <a:ln w="9525">
            <a:solidFill>
              <a:srgbClr val="E2E2E2"/>
            </a:solidFill>
            <a:prstDash val="solid"/>
          </a:ln>
        </p:spPr>
      </p:sp>
      <p:sp>
        <p:nvSpPr>
          <p:cNvPr id="14" name="Text 12"/>
          <p:cNvSpPr txBox="1"/>
          <p:nvPr/>
        </p:nvSpPr>
        <p:spPr>
          <a:xfrm>
            <a:off x="4206240" y="2688336"/>
            <a:ext cx="4480560" cy="365760"/>
          </a:xfrm>
          <a:prstGeom prst="rect">
            <a:avLst/>
          </a:prstGeom>
          <a:noFill/>
          <a:ln/>
        </p:spPr>
        <p:txBody>
          <a:bodyPr wrap="square" lIns="0" tIns="0" rIns="0" bIns="0" rtlCol="0" anchor="t"/>
          <a:lstStyle/>
          <a:p>
            <a:pPr indent="0" marL="0">
              <a:buNone/>
            </a:pPr>
            <a:r>
              <a:rPr lang="en-US" sz="1200" dirty="0">
                <a:solidFill>
                  <a:schemeClr val="tx1"/>
                </a:solidFill>
              </a:rPr>
              <a:t>One AI system deployed to production inside your company</a:t>
            </a:r>
            <a:endParaRPr lang="en-US" sz="1200" dirty="0"/>
          </a:p>
        </p:txBody>
      </p:sp>
      <p:sp>
        <p:nvSpPr>
          <p:cNvPr id="15" name="Shape 13"/>
          <p:cNvSpPr/>
          <p:nvPr/>
        </p:nvSpPr>
        <p:spPr>
          <a:xfrm>
            <a:off x="4206240" y="3072384"/>
            <a:ext cx="4480560" cy="0"/>
          </a:xfrm>
          <a:prstGeom prst="line">
            <a:avLst/>
          </a:prstGeom>
          <a:noFill/>
          <a:ln w="9525">
            <a:solidFill>
              <a:srgbClr val="E2E2E2"/>
            </a:solidFill>
            <a:prstDash val="solid"/>
          </a:ln>
        </p:spPr>
      </p:sp>
      <p:sp>
        <p:nvSpPr>
          <p:cNvPr id="16" name="Text 14"/>
          <p:cNvSpPr txBox="1"/>
          <p:nvPr/>
        </p:nvSpPr>
        <p:spPr>
          <a:xfrm>
            <a:off x="4206240" y="3163824"/>
            <a:ext cx="4480560" cy="365760"/>
          </a:xfrm>
          <a:prstGeom prst="rect">
            <a:avLst/>
          </a:prstGeom>
          <a:noFill/>
          <a:ln/>
        </p:spPr>
        <p:txBody>
          <a:bodyPr wrap="square" lIns="0" tIns="0" rIns="0" bIns="0" rtlCol="0" anchor="t"/>
          <a:lstStyle/>
          <a:p>
            <a:pPr indent="0" marL="0">
              <a:buNone/>
            </a:pPr>
            <a:r>
              <a:rPr lang="en-US" sz="1200" dirty="0">
                <a:solidFill>
                  <a:schemeClr val="tx1"/>
                </a:solidFill>
              </a:rPr>
              <a:t>Runbook, monitoring, and a ranked list of the next three systems</a:t>
            </a:r>
            <a:endParaRPr lang="en-US" sz="1200" dirty="0"/>
          </a:p>
        </p:txBody>
      </p:sp>
      <p:sp>
        <p:nvSpPr>
          <p:cNvPr id="17" name="Shape 15"/>
          <p:cNvSpPr/>
          <p:nvPr/>
        </p:nvSpPr>
        <p:spPr>
          <a:xfrm>
            <a:off x="4206240" y="3547872"/>
            <a:ext cx="4480560" cy="0"/>
          </a:xfrm>
          <a:prstGeom prst="line">
            <a:avLst/>
          </a:prstGeom>
          <a:noFill/>
          <a:ln w="9525">
            <a:solidFill>
              <a:srgbClr val="E2E2E2"/>
            </a:solidFill>
            <a:prstDash val="solid"/>
          </a:ln>
        </p:spPr>
      </p:sp>
      <p:sp>
        <p:nvSpPr>
          <p:cNvPr id="18" name="Text 16"/>
          <p:cNvSpPr txBox="1"/>
          <p:nvPr/>
        </p:nvSpPr>
        <p:spPr>
          <a:xfrm>
            <a:off x="4206240" y="3639312"/>
            <a:ext cx="4480560" cy="365760"/>
          </a:xfrm>
          <a:prstGeom prst="rect">
            <a:avLst/>
          </a:prstGeom>
          <a:noFill/>
          <a:ln/>
        </p:spPr>
        <p:txBody>
          <a:bodyPr wrap="square" lIns="0" tIns="0" rIns="0" bIns="0" rtlCol="0" anchor="t"/>
          <a:lstStyle/>
          <a:p>
            <a:pPr indent="0" marL="0">
              <a:buNone/>
            </a:pPr>
            <a:r>
              <a:rPr lang="en-US" sz="1200" dirty="0">
                <a:solidFill>
                  <a:schemeClr val="tx1"/>
                </a:solidFill>
              </a:rPr>
              <a:t>Thirty days of questions answered after the cohort ends</a:t>
            </a:r>
            <a:endParaRPr lang="en-US" sz="1200" dirty="0"/>
          </a:p>
        </p:txBody>
      </p:sp>
      <p:sp>
        <p:nvSpPr>
          <p:cNvPr id="19" name="Shape 17"/>
          <p:cNvSpPr/>
          <p:nvPr/>
        </p:nvSpPr>
        <p:spPr>
          <a:xfrm>
            <a:off x="4206240" y="4023360"/>
            <a:ext cx="448056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Who this is for, and who it is not for</a:t>
            </a:r>
            <a:endParaRPr lang="en-US" sz="2600" dirty="0"/>
          </a:p>
        </p:txBody>
      </p:sp>
      <p:sp>
        <p:nvSpPr>
          <p:cNvPr id="3" name="Text 1"/>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A FIT</a:t>
            </a:r>
            <a:endParaRPr lang="en-US" sz="800" dirty="0"/>
          </a:p>
        </p:txBody>
      </p:sp>
      <p:sp>
        <p:nvSpPr>
          <p:cNvPr id="4" name="Shape 2"/>
          <p:cNvSpPr/>
          <p:nvPr/>
        </p:nvSpPr>
        <p:spPr>
          <a:xfrm>
            <a:off x="457200" y="1581912"/>
            <a:ext cx="3931920" cy="0"/>
          </a:xfrm>
          <a:prstGeom prst="line">
            <a:avLst/>
          </a:prstGeom>
          <a:noFill/>
          <a:ln w="9525">
            <a:solidFill>
              <a:srgbClr val="E2E2E2"/>
            </a:solidFill>
            <a:prstDash val="solid"/>
          </a:ln>
        </p:spPr>
      </p:sp>
      <p:sp>
        <p:nvSpPr>
          <p:cNvPr id="5" name="Text 3"/>
          <p:cNvSpPr txBox="1"/>
          <p:nvPr/>
        </p:nvSpPr>
        <p:spPr>
          <a:xfrm>
            <a:off x="457200" y="1655064"/>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822960" y="1636776"/>
            <a:ext cx="3566160" cy="566928"/>
          </a:xfrm>
          <a:prstGeom prst="rect">
            <a:avLst/>
          </a:prstGeom>
          <a:noFill/>
          <a:ln/>
        </p:spPr>
        <p:txBody>
          <a:bodyPr wrap="square" lIns="0" tIns="0" rIns="0" bIns="0" rtlCol="0" anchor="t"/>
          <a:lstStyle/>
          <a:p>
            <a:pPr indent="0" marL="0">
              <a:buNone/>
            </a:pPr>
            <a:r>
              <a:rPr lang="en-US" sz="1100" dirty="0">
                <a:solidFill>
                  <a:schemeClr val="tx1"/>
                </a:solidFill>
              </a:rPr>
              <a:t>50 to 500 employees with operations that run on people retyping things between systems</a:t>
            </a:r>
            <a:endParaRPr lang="en-US" sz="1100" dirty="0"/>
          </a:p>
        </p:txBody>
      </p:sp>
      <p:sp>
        <p:nvSpPr>
          <p:cNvPr id="7" name="Shape 5"/>
          <p:cNvSpPr/>
          <p:nvPr/>
        </p:nvSpPr>
        <p:spPr>
          <a:xfrm>
            <a:off x="457200" y="2240280"/>
            <a:ext cx="3931920" cy="0"/>
          </a:xfrm>
          <a:prstGeom prst="line">
            <a:avLst/>
          </a:prstGeom>
          <a:noFill/>
          <a:ln w="9525">
            <a:solidFill>
              <a:srgbClr val="E2E2E2"/>
            </a:solidFill>
            <a:prstDash val="solid"/>
          </a:ln>
        </p:spPr>
      </p:sp>
      <p:sp>
        <p:nvSpPr>
          <p:cNvPr id="8" name="Text 6"/>
          <p:cNvSpPr txBox="1"/>
          <p:nvPr/>
        </p:nvSpPr>
        <p:spPr>
          <a:xfrm>
            <a:off x="457200" y="231343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822960" y="2295144"/>
            <a:ext cx="3566160" cy="566928"/>
          </a:xfrm>
          <a:prstGeom prst="rect">
            <a:avLst/>
          </a:prstGeom>
          <a:noFill/>
          <a:ln/>
        </p:spPr>
        <p:txBody>
          <a:bodyPr wrap="square" lIns="0" tIns="0" rIns="0" bIns="0" rtlCol="0" anchor="t"/>
          <a:lstStyle/>
          <a:p>
            <a:pPr indent="0" marL="0">
              <a:buNone/>
            </a:pPr>
            <a:r>
              <a:rPr lang="en-US" sz="1100" dirty="0">
                <a:solidFill>
                  <a:schemeClr val="tx1"/>
                </a:solidFill>
              </a:rPr>
              <a:t>A CEO, COO, or head of operations who wants the capability in-house, not rented</a:t>
            </a:r>
            <a:endParaRPr lang="en-US" sz="1100" dirty="0"/>
          </a:p>
        </p:txBody>
      </p:sp>
      <p:sp>
        <p:nvSpPr>
          <p:cNvPr id="10" name="Shape 8"/>
          <p:cNvSpPr/>
          <p:nvPr/>
        </p:nvSpPr>
        <p:spPr>
          <a:xfrm>
            <a:off x="457200" y="2898648"/>
            <a:ext cx="3931920" cy="0"/>
          </a:xfrm>
          <a:prstGeom prst="line">
            <a:avLst/>
          </a:prstGeom>
          <a:noFill/>
          <a:ln w="9525">
            <a:solidFill>
              <a:srgbClr val="E2E2E2"/>
            </a:solidFill>
            <a:prstDash val="solid"/>
          </a:ln>
        </p:spPr>
      </p:sp>
      <p:sp>
        <p:nvSpPr>
          <p:cNvPr id="11" name="Text 9"/>
          <p:cNvSpPr txBox="1"/>
          <p:nvPr/>
        </p:nvSpPr>
        <p:spPr>
          <a:xfrm>
            <a:off x="457200" y="297180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822960" y="2953512"/>
            <a:ext cx="3566160" cy="566928"/>
          </a:xfrm>
          <a:prstGeom prst="rect">
            <a:avLst/>
          </a:prstGeom>
          <a:noFill/>
          <a:ln/>
        </p:spPr>
        <p:txBody>
          <a:bodyPr wrap="square" lIns="0" tIns="0" rIns="0" bIns="0" rtlCol="0" anchor="t"/>
          <a:lstStyle/>
          <a:p>
            <a:pPr indent="0" marL="0">
              <a:buNone/>
            </a:pPr>
            <a:r>
              <a:rPr lang="en-US" sz="1100" dirty="0">
                <a:solidFill>
                  <a:schemeClr val="tx1"/>
                </a:solidFill>
              </a:rPr>
              <a:t>At least four people who can give the program real time, from ops, engineering, or analytics</a:t>
            </a:r>
            <a:endParaRPr lang="en-US" sz="1100" dirty="0"/>
          </a:p>
        </p:txBody>
      </p:sp>
      <p:sp>
        <p:nvSpPr>
          <p:cNvPr id="13" name="Shape 11"/>
          <p:cNvSpPr/>
          <p:nvPr/>
        </p:nvSpPr>
        <p:spPr>
          <a:xfrm>
            <a:off x="457200" y="3557016"/>
            <a:ext cx="3931920" cy="0"/>
          </a:xfrm>
          <a:prstGeom prst="line">
            <a:avLst/>
          </a:prstGeom>
          <a:noFill/>
          <a:ln w="9525">
            <a:solidFill>
              <a:srgbClr val="E2E2E2"/>
            </a:solidFill>
            <a:prstDash val="solid"/>
          </a:ln>
        </p:spPr>
      </p:sp>
      <p:sp>
        <p:nvSpPr>
          <p:cNvPr id="14" name="Text 12"/>
          <p:cNvSpPr txBox="1"/>
          <p:nvPr/>
        </p:nvSpPr>
        <p:spPr>
          <a:xfrm>
            <a:off x="457200" y="363016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822960" y="3611880"/>
            <a:ext cx="3566160" cy="566928"/>
          </a:xfrm>
          <a:prstGeom prst="rect">
            <a:avLst/>
          </a:prstGeom>
          <a:noFill/>
          <a:ln/>
        </p:spPr>
        <p:txBody>
          <a:bodyPr wrap="square" lIns="0" tIns="0" rIns="0" bIns="0" rtlCol="0" anchor="t"/>
          <a:lstStyle/>
          <a:p>
            <a:pPr indent="0" marL="0">
              <a:buNone/>
            </a:pPr>
            <a:r>
              <a:rPr lang="en-US" sz="1100" dirty="0">
                <a:solidFill>
                  <a:schemeClr val="tx1"/>
                </a:solidFill>
              </a:rPr>
              <a:t>One workflow you already know is broken and are willing to fix in public</a:t>
            </a:r>
            <a:endParaRPr lang="en-US" sz="1100" dirty="0"/>
          </a:p>
        </p:txBody>
      </p:sp>
      <p:sp>
        <p:nvSpPr>
          <p:cNvPr id="16" name="Shape 14"/>
          <p:cNvSpPr/>
          <p:nvPr/>
        </p:nvSpPr>
        <p:spPr>
          <a:xfrm>
            <a:off x="457200" y="4215384"/>
            <a:ext cx="3931920" cy="0"/>
          </a:xfrm>
          <a:prstGeom prst="line">
            <a:avLst/>
          </a:prstGeom>
          <a:noFill/>
          <a:ln w="9525">
            <a:solidFill>
              <a:srgbClr val="E2E2E2"/>
            </a:solidFill>
            <a:prstDash val="solid"/>
          </a:ln>
        </p:spPr>
      </p:sp>
      <p:sp>
        <p:nvSpPr>
          <p:cNvPr id="17" name="Text 15"/>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NOT A FIT</a:t>
            </a:r>
            <a:endParaRPr lang="en-US" sz="800" dirty="0"/>
          </a:p>
        </p:txBody>
      </p:sp>
      <p:sp>
        <p:nvSpPr>
          <p:cNvPr id="18" name="Shape 16"/>
          <p:cNvSpPr/>
          <p:nvPr/>
        </p:nvSpPr>
        <p:spPr>
          <a:xfrm>
            <a:off x="4754880" y="1581912"/>
            <a:ext cx="3931920" cy="0"/>
          </a:xfrm>
          <a:prstGeom prst="line">
            <a:avLst/>
          </a:prstGeom>
          <a:noFill/>
          <a:ln w="9525">
            <a:solidFill>
              <a:srgbClr val="E2E2E2"/>
            </a:solidFill>
            <a:prstDash val="solid"/>
          </a:ln>
        </p:spPr>
      </p:sp>
      <p:sp>
        <p:nvSpPr>
          <p:cNvPr id="19" name="Text 17"/>
          <p:cNvSpPr txBox="1"/>
          <p:nvPr/>
        </p:nvSpPr>
        <p:spPr>
          <a:xfrm>
            <a:off x="4754880" y="1655064"/>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20" name="Text 18"/>
          <p:cNvSpPr txBox="1"/>
          <p:nvPr/>
        </p:nvSpPr>
        <p:spPr>
          <a:xfrm>
            <a:off x="5120640" y="1636776"/>
            <a:ext cx="3566160" cy="566928"/>
          </a:xfrm>
          <a:prstGeom prst="rect">
            <a:avLst/>
          </a:prstGeom>
          <a:noFill/>
          <a:ln/>
        </p:spPr>
        <p:txBody>
          <a:bodyPr wrap="square" lIns="0" tIns="0" rIns="0" bIns="0" rtlCol="0" anchor="t"/>
          <a:lstStyle/>
          <a:p>
            <a:pPr indent="0" marL="0">
              <a:buNone/>
            </a:pPr>
            <a:r>
              <a:rPr lang="en-US" sz="1100" dirty="0">
                <a:solidFill>
                  <a:schemeClr val="tx1"/>
                </a:solidFill>
              </a:rPr>
              <a:t>Companies that want a vendor to build it and walk away</a:t>
            </a:r>
            <a:endParaRPr lang="en-US" sz="1100" dirty="0"/>
          </a:p>
        </p:txBody>
      </p:sp>
      <p:sp>
        <p:nvSpPr>
          <p:cNvPr id="21" name="Shape 19"/>
          <p:cNvSpPr/>
          <p:nvPr/>
        </p:nvSpPr>
        <p:spPr>
          <a:xfrm>
            <a:off x="4754880" y="2240280"/>
            <a:ext cx="3931920" cy="0"/>
          </a:xfrm>
          <a:prstGeom prst="line">
            <a:avLst/>
          </a:prstGeom>
          <a:noFill/>
          <a:ln w="9525">
            <a:solidFill>
              <a:srgbClr val="E2E2E2"/>
            </a:solidFill>
            <a:prstDash val="solid"/>
          </a:ln>
        </p:spPr>
      </p:sp>
      <p:sp>
        <p:nvSpPr>
          <p:cNvPr id="22" name="Text 20"/>
          <p:cNvSpPr txBox="1"/>
          <p:nvPr/>
        </p:nvSpPr>
        <p:spPr>
          <a:xfrm>
            <a:off x="4754880" y="231343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3" name="Text 21"/>
          <p:cNvSpPr txBox="1"/>
          <p:nvPr/>
        </p:nvSpPr>
        <p:spPr>
          <a:xfrm>
            <a:off x="5120640" y="2295144"/>
            <a:ext cx="3566160" cy="566928"/>
          </a:xfrm>
          <a:prstGeom prst="rect">
            <a:avLst/>
          </a:prstGeom>
          <a:noFill/>
          <a:ln/>
        </p:spPr>
        <p:txBody>
          <a:bodyPr wrap="square" lIns="0" tIns="0" rIns="0" bIns="0" rtlCol="0" anchor="t"/>
          <a:lstStyle/>
          <a:p>
            <a:pPr indent="0" marL="0">
              <a:buNone/>
            </a:pPr>
            <a:r>
              <a:rPr lang="en-US" sz="1100" dirty="0">
                <a:solidFill>
                  <a:schemeClr val="tx1"/>
                </a:solidFill>
              </a:rPr>
              <a:t>Teams that cannot free up time during the eight weeks</a:t>
            </a:r>
            <a:endParaRPr lang="en-US" sz="1100" dirty="0"/>
          </a:p>
        </p:txBody>
      </p:sp>
      <p:sp>
        <p:nvSpPr>
          <p:cNvPr id="24" name="Shape 22"/>
          <p:cNvSpPr/>
          <p:nvPr/>
        </p:nvSpPr>
        <p:spPr>
          <a:xfrm>
            <a:off x="4754880" y="2898648"/>
            <a:ext cx="3931920" cy="0"/>
          </a:xfrm>
          <a:prstGeom prst="line">
            <a:avLst/>
          </a:prstGeom>
          <a:noFill/>
          <a:ln w="9525">
            <a:solidFill>
              <a:srgbClr val="E2E2E2"/>
            </a:solidFill>
            <a:prstDash val="solid"/>
          </a:ln>
        </p:spPr>
      </p:sp>
      <p:sp>
        <p:nvSpPr>
          <p:cNvPr id="25" name="Text 23"/>
          <p:cNvSpPr txBox="1"/>
          <p:nvPr/>
        </p:nvSpPr>
        <p:spPr>
          <a:xfrm>
            <a:off x="4754880" y="297180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6" name="Text 24"/>
          <p:cNvSpPr txBox="1"/>
          <p:nvPr/>
        </p:nvSpPr>
        <p:spPr>
          <a:xfrm>
            <a:off x="5120640" y="2953512"/>
            <a:ext cx="3566160" cy="566928"/>
          </a:xfrm>
          <a:prstGeom prst="rect">
            <a:avLst/>
          </a:prstGeom>
          <a:noFill/>
          <a:ln/>
        </p:spPr>
        <p:txBody>
          <a:bodyPr wrap="square" lIns="0" tIns="0" rIns="0" bIns="0" rtlCol="0" anchor="t"/>
          <a:lstStyle/>
          <a:p>
            <a:pPr indent="0" marL="0">
              <a:buNone/>
            </a:pPr>
            <a:r>
              <a:rPr lang="en-US" sz="1100" dirty="0">
                <a:solidFill>
                  <a:schemeClr val="tx1"/>
                </a:solidFill>
              </a:rPr>
              <a:t>Projects that need a data platform built first</a:t>
            </a:r>
            <a:endParaRPr lang="en-US" sz="1100" dirty="0"/>
          </a:p>
        </p:txBody>
      </p:sp>
      <p:sp>
        <p:nvSpPr>
          <p:cNvPr id="27" name="Shape 25"/>
          <p:cNvSpPr/>
          <p:nvPr/>
        </p:nvSpPr>
        <p:spPr>
          <a:xfrm>
            <a:off x="4754880" y="3557016"/>
            <a:ext cx="3931920" cy="0"/>
          </a:xfrm>
          <a:prstGeom prst="line">
            <a:avLst/>
          </a:prstGeom>
          <a:noFill/>
          <a:ln w="9525">
            <a:solidFill>
              <a:srgbClr val="E2E2E2"/>
            </a:solidFill>
            <a:prstDash val="solid"/>
          </a:ln>
        </p:spPr>
      </p:sp>
      <p:sp>
        <p:nvSpPr>
          <p:cNvPr id="28" name="Text 26"/>
          <p:cNvSpPr txBox="1"/>
          <p:nvPr/>
        </p:nvSpPr>
        <p:spPr>
          <a:xfrm>
            <a:off x="4754880" y="363016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29" name="Text 27"/>
          <p:cNvSpPr txBox="1"/>
          <p:nvPr/>
        </p:nvSpPr>
        <p:spPr>
          <a:xfrm>
            <a:off x="5120640" y="3611880"/>
            <a:ext cx="3566160" cy="566928"/>
          </a:xfrm>
          <a:prstGeom prst="rect">
            <a:avLst/>
          </a:prstGeom>
          <a:noFill/>
          <a:ln/>
        </p:spPr>
        <p:txBody>
          <a:bodyPr wrap="square" lIns="0" tIns="0" rIns="0" bIns="0" rtlCol="0" anchor="t"/>
          <a:lstStyle/>
          <a:p>
            <a:pPr indent="0" marL="0">
              <a:buNone/>
            </a:pPr>
            <a:r>
              <a:rPr lang="en-US" sz="1100" dirty="0">
                <a:solidFill>
                  <a:schemeClr val="tx1"/>
                </a:solidFill>
              </a:rPr>
              <a:t>Anyone looking for a slide deck about AI strategy without shipping anything</a:t>
            </a:r>
            <a:endParaRPr lang="en-US" sz="1100" dirty="0"/>
          </a:p>
        </p:txBody>
      </p:sp>
      <p:sp>
        <p:nvSpPr>
          <p:cNvPr id="30" name="Shape 28"/>
          <p:cNvSpPr/>
          <p:nvPr/>
        </p:nvSpPr>
        <p:spPr>
          <a:xfrm>
            <a:off x="4754880" y="4215384"/>
            <a:ext cx="393192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548640"/>
            <a:ext cx="4572000" cy="228600"/>
          </a:xfrm>
          <a:prstGeom prst="rect">
            <a:avLst/>
          </a:prstGeom>
          <a:noFill/>
          <a:ln/>
        </p:spPr>
        <p:txBody>
          <a:bodyPr wrap="square" lIns="0" tIns="0" rIns="0" bIns="0" rtlCol="0" anchor="t"/>
          <a:lstStyle/>
          <a:p>
            <a:pPr indent="0" marL="0">
              <a:buNone/>
            </a:pPr>
            <a:r>
              <a:rPr lang="en-US" sz="900" spc="200" kern="0" dirty="0">
                <a:solidFill>
                  <a:srgbClr val="B5B5B5"/>
                </a:solidFill>
                <a:latin typeface="Courier New" pitchFamily="34" charset="0"/>
                <a:ea typeface="Courier New" pitchFamily="34" charset="-122"/>
                <a:cs typeface="Courier New" pitchFamily="34" charset="-120"/>
              </a:rPr>
              <a:t>NEXT STEP</a:t>
            </a:r>
            <a:endParaRPr lang="en-US" sz="900" dirty="0"/>
          </a:p>
        </p:txBody>
      </p:sp>
      <p:sp>
        <p:nvSpPr>
          <p:cNvPr id="3" name="Text 1"/>
          <p:cNvSpPr txBox="1"/>
          <p:nvPr/>
        </p:nvSpPr>
        <p:spPr>
          <a:xfrm>
            <a:off x="457200" y="914400"/>
            <a:ext cx="5120640" cy="2011680"/>
          </a:xfrm>
          <a:prstGeom prst="rect">
            <a:avLst/>
          </a:prstGeom>
          <a:noFill/>
          <a:ln/>
        </p:spPr>
        <p:txBody>
          <a:bodyPr wrap="square" lIns="0" tIns="0" rIns="0" bIns="0" rtlCol="0" anchor="t"/>
          <a:lstStyle/>
          <a:p>
            <a:pPr indent="0" marL="0">
              <a:buNone/>
            </a:pPr>
            <a:r>
              <a:rPr lang="en-US" sz="2200" b="1" dirty="0">
                <a:solidFill>
                  <a:srgbClr val="FFFFFF"/>
                </a:solidFill>
              </a:rPr>
              <a:t>Reply to the email this came with, or write to the address below. Tell us the one workflow in your company that wastes the most human time.</a:t>
            </a:r>
            <a:endParaRPr lang="en-US" sz="2200" dirty="0"/>
          </a:p>
        </p:txBody>
      </p:sp>
      <p:sp>
        <p:nvSpPr>
          <p:cNvPr id="4" name="Text 2"/>
          <p:cNvSpPr txBox="1"/>
          <p:nvPr/>
        </p:nvSpPr>
        <p:spPr>
          <a:xfrm>
            <a:off x="457200" y="3108960"/>
            <a:ext cx="5120640" cy="36576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millhausenjordan@gmail.com</a:t>
            </a:r>
            <a:endParaRPr lang="en-US" sz="1400" dirty="0"/>
          </a:p>
        </p:txBody>
      </p:sp>
      <p:sp>
        <p:nvSpPr>
          <p:cNvPr id="5" name="Text 3"/>
          <p:cNvSpPr txBox="1"/>
          <p:nvPr/>
        </p:nvSpPr>
        <p:spPr>
          <a:xfrm>
            <a:off x="457200" y="3520440"/>
            <a:ext cx="5120640" cy="274320"/>
          </a:xfrm>
          <a:prstGeom prst="rect">
            <a:avLst/>
          </a:prstGeom>
          <a:noFill/>
          <a:ln/>
        </p:spPr>
        <p:txBody>
          <a:bodyPr wrap="square" lIns="0" tIns="0" rIns="0" bIns="0" rtlCol="0" anchor="t"/>
          <a:lstStyle/>
          <a:p>
            <a:pPr indent="0" marL="0">
              <a:buNone/>
            </a:pPr>
            <a:r>
              <a:rPr lang="en-US" sz="1000" dirty="0">
                <a:solidFill>
                  <a:srgbClr val="B5B5B5"/>
                </a:solidFill>
                <a:latin typeface="Courier New" pitchFamily="34" charset="0"/>
                <a:ea typeface="Courier New" pitchFamily="34" charset="-122"/>
                <a:cs typeface="Courier New" pitchFamily="34" charset="-120"/>
              </a:rPr>
              <a:t>www.linkedin.com/in/jordan-millhausen</a:t>
            </a:r>
            <a:endParaRPr lang="en-US" sz="1000" dirty="0"/>
          </a:p>
        </p:txBody>
      </p:sp>
      <p:sp>
        <p:nvSpPr>
          <p:cNvPr id="6" name="Shape 4"/>
          <p:cNvSpPr/>
          <p:nvPr/>
        </p:nvSpPr>
        <p:spPr>
          <a:xfrm>
            <a:off x="6035040" y="914400"/>
            <a:ext cx="2651760" cy="0"/>
          </a:xfrm>
          <a:prstGeom prst="line">
            <a:avLst/>
          </a:prstGeom>
          <a:noFill/>
          <a:ln w="9525">
            <a:solidFill>
              <a:srgbClr val="595959"/>
            </a:solidFill>
            <a:prstDash val="solid"/>
          </a:ln>
        </p:spPr>
      </p:sp>
      <p:sp>
        <p:nvSpPr>
          <p:cNvPr id="7" name="Text 5"/>
          <p:cNvSpPr txBox="1"/>
          <p:nvPr/>
        </p:nvSpPr>
        <p:spPr>
          <a:xfrm>
            <a:off x="6035040" y="10241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01</a:t>
            </a:r>
            <a:endParaRPr lang="en-US" sz="800" dirty="0"/>
          </a:p>
        </p:txBody>
      </p:sp>
      <p:sp>
        <p:nvSpPr>
          <p:cNvPr id="8" name="Text 6"/>
          <p:cNvSpPr txBox="1"/>
          <p:nvPr/>
        </p:nvSpPr>
        <p:spPr>
          <a:xfrm>
            <a:off x="6446520" y="1005840"/>
            <a:ext cx="2240280" cy="548640"/>
          </a:xfrm>
          <a:prstGeom prst="rect">
            <a:avLst/>
          </a:prstGeom>
          <a:noFill/>
          <a:ln/>
        </p:spPr>
        <p:txBody>
          <a:bodyPr wrap="square" lIns="0" tIns="0" rIns="0" bIns="0" rtlCol="0" anchor="t"/>
          <a:lstStyle/>
          <a:p>
            <a:pPr indent="0" marL="0">
              <a:buNone/>
            </a:pPr>
            <a:r>
              <a:rPr lang="en-US" sz="1300" dirty="0">
                <a:solidFill>
                  <a:srgbClr val="FFFFFF"/>
                </a:solidFill>
              </a:rPr>
              <a:t>A 30-minute call about that workflow</a:t>
            </a:r>
            <a:endParaRPr lang="en-US" sz="1300" dirty="0"/>
          </a:p>
        </p:txBody>
      </p:sp>
      <p:sp>
        <p:nvSpPr>
          <p:cNvPr id="9" name="Shape 7"/>
          <p:cNvSpPr/>
          <p:nvPr/>
        </p:nvSpPr>
        <p:spPr>
          <a:xfrm>
            <a:off x="6035040" y="1600200"/>
            <a:ext cx="2651760" cy="0"/>
          </a:xfrm>
          <a:prstGeom prst="line">
            <a:avLst/>
          </a:prstGeom>
          <a:noFill/>
          <a:ln w="9525">
            <a:solidFill>
              <a:srgbClr val="595959"/>
            </a:solidFill>
            <a:prstDash val="solid"/>
          </a:ln>
        </p:spPr>
      </p:sp>
      <p:sp>
        <p:nvSpPr>
          <p:cNvPr id="10" name="Text 8"/>
          <p:cNvSpPr txBox="1"/>
          <p:nvPr/>
        </p:nvSpPr>
        <p:spPr>
          <a:xfrm>
            <a:off x="6035040" y="17099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02</a:t>
            </a:r>
            <a:endParaRPr lang="en-US" sz="800" dirty="0"/>
          </a:p>
        </p:txBody>
      </p:sp>
      <p:sp>
        <p:nvSpPr>
          <p:cNvPr id="11" name="Text 9"/>
          <p:cNvSpPr txBox="1"/>
          <p:nvPr/>
        </p:nvSpPr>
        <p:spPr>
          <a:xfrm>
            <a:off x="6446520" y="1691640"/>
            <a:ext cx="2240280" cy="548640"/>
          </a:xfrm>
          <a:prstGeom prst="rect">
            <a:avLst/>
          </a:prstGeom>
          <a:noFill/>
          <a:ln/>
        </p:spPr>
        <p:txBody>
          <a:bodyPr wrap="square" lIns="0" tIns="0" rIns="0" bIns="0" rtlCol="0" anchor="t"/>
          <a:lstStyle/>
          <a:p>
            <a:pPr indent="0" marL="0">
              <a:buNone/>
            </a:pPr>
            <a:r>
              <a:rPr lang="en-US" sz="1300" dirty="0">
                <a:solidFill>
                  <a:srgbClr val="FFFFFF"/>
                </a:solidFill>
              </a:rPr>
              <a:t>A one-page proposal naming the system and the cohort</a:t>
            </a:r>
            <a:endParaRPr lang="en-US" sz="1300" dirty="0"/>
          </a:p>
        </p:txBody>
      </p:sp>
      <p:sp>
        <p:nvSpPr>
          <p:cNvPr id="12" name="Shape 10"/>
          <p:cNvSpPr/>
          <p:nvPr/>
        </p:nvSpPr>
        <p:spPr>
          <a:xfrm>
            <a:off x="6035040" y="2286000"/>
            <a:ext cx="2651760" cy="0"/>
          </a:xfrm>
          <a:prstGeom prst="line">
            <a:avLst/>
          </a:prstGeom>
          <a:noFill/>
          <a:ln w="9525">
            <a:solidFill>
              <a:srgbClr val="595959"/>
            </a:solidFill>
            <a:prstDash val="solid"/>
          </a:ln>
        </p:spPr>
      </p:sp>
      <p:sp>
        <p:nvSpPr>
          <p:cNvPr id="13" name="Text 11"/>
          <p:cNvSpPr txBox="1"/>
          <p:nvPr/>
        </p:nvSpPr>
        <p:spPr>
          <a:xfrm>
            <a:off x="6035040" y="23957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03</a:t>
            </a:r>
            <a:endParaRPr lang="en-US" sz="800" dirty="0"/>
          </a:p>
        </p:txBody>
      </p:sp>
      <p:sp>
        <p:nvSpPr>
          <p:cNvPr id="14" name="Text 12"/>
          <p:cNvSpPr txBox="1"/>
          <p:nvPr/>
        </p:nvSpPr>
        <p:spPr>
          <a:xfrm>
            <a:off x="6446520" y="2377440"/>
            <a:ext cx="2240280" cy="548640"/>
          </a:xfrm>
          <a:prstGeom prst="rect">
            <a:avLst/>
          </a:prstGeom>
          <a:noFill/>
          <a:ln/>
        </p:spPr>
        <p:txBody>
          <a:bodyPr wrap="square" lIns="0" tIns="0" rIns="0" bIns="0" rtlCol="0" anchor="t"/>
          <a:lstStyle/>
          <a:p>
            <a:pPr indent="0" marL="0">
              <a:buNone/>
            </a:pPr>
            <a:r>
              <a:rPr lang="en-US" sz="1300" dirty="0">
                <a:solidFill>
                  <a:srgbClr val="FFFFFF"/>
                </a:solidFill>
              </a:rPr>
              <a:t>Week one</a:t>
            </a:r>
            <a:endParaRPr lang="en-US" sz="1300" dirty="0"/>
          </a:p>
        </p:txBody>
      </p:sp>
      <p:sp>
        <p:nvSpPr>
          <p:cNvPr id="15" name="Shape 13"/>
          <p:cNvSpPr/>
          <p:nvPr/>
        </p:nvSpPr>
        <p:spPr>
          <a:xfrm>
            <a:off x="6035040" y="2971800"/>
            <a:ext cx="2651760" cy="0"/>
          </a:xfrm>
          <a:prstGeom prst="line">
            <a:avLst/>
          </a:prstGeom>
          <a:noFill/>
          <a:ln w="9525">
            <a:solidFill>
              <a:srgbClr val="595959"/>
            </a:solidFill>
            <a:prstDash val="solid"/>
          </a:ln>
        </p:spPr>
      </p:sp>
    </p:spTree>
  </p:cSld>
  <p:clrMapOvr>
    <a:masterClrMapping/>
  </p:clrMapOvr>
</p:sld>
</file>

<file path=ppt/theme/theme1.xml><?xml version="1.0" encoding="utf-8"?>
<a:theme xmlns:a="http://schemas.openxmlformats.org/drawingml/2006/main" name="AI Training For Companies">
  <a:themeElements>
    <a:clrScheme name="AI Training For Companies">
      <a:dk1>
        <a:srgbClr val="161616"/>
      </a:dk1>
      <a:lt1>
        <a:srgbClr val="FFFFFF"/>
      </a:lt1>
      <a:dk2>
        <a:srgbClr val="595959"/>
      </a:dk2>
      <a:lt2>
        <a:srgbClr val="F4F4F4"/>
      </a:lt2>
      <a:accent1>
        <a:srgbClr val="161616"/>
      </a:accent1>
      <a:accent2>
        <a:srgbClr val="595959"/>
      </a:accent2>
      <a:accent3>
        <a:srgbClr val="8A8A8A"/>
      </a:accent3>
      <a:accent4>
        <a:srgbClr val="B5B5B5"/>
      </a:accent4>
      <a:accent5>
        <a:srgbClr val="D9D9D9"/>
      </a:accent5>
      <a:accent6>
        <a:srgbClr val="E2E2E2"/>
      </a:accent6>
      <a:hlink>
        <a:srgbClr val="161616"/>
      </a:hlink>
      <a:folHlink>
        <a:srgbClr val="595959"/>
      </a:folHlink>
    </a:clrScheme>
    <a:fontScheme name="AI Training For Companie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Training For Companies deck</dc:title>
  <dc:subject>PptxGenJS Presentation</dc:subject>
  <dc:creator>Jordan Millhausen</dc:creator>
  <cp:lastModifiedBy>Jordan Millhausen</cp:lastModifiedBy>
  <cp:revision>1</cp:revision>
  <dcterms:created xsi:type="dcterms:W3CDTF">2026-10-09T18:08:50Z</dcterms:created>
  <dcterms:modified xsi:type="dcterms:W3CDTF">2026-10-09T18:08:50Z</dcterms:modified>
</cp:coreProperties>
</file>